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398" r:id="rId2"/>
    <p:sldId id="330" r:id="rId3"/>
    <p:sldId id="331" r:id="rId4"/>
    <p:sldId id="258" r:id="rId5"/>
    <p:sldId id="259" r:id="rId6"/>
    <p:sldId id="265" r:id="rId7"/>
    <p:sldId id="270" r:id="rId8"/>
    <p:sldId id="271" r:id="rId9"/>
    <p:sldId id="260" r:id="rId10"/>
    <p:sldId id="261" r:id="rId11"/>
    <p:sldId id="262" r:id="rId12"/>
    <p:sldId id="263" r:id="rId13"/>
    <p:sldId id="276" r:id="rId14"/>
    <p:sldId id="272" r:id="rId15"/>
    <p:sldId id="273" r:id="rId16"/>
    <p:sldId id="284" r:id="rId17"/>
    <p:sldId id="274" r:id="rId18"/>
    <p:sldId id="285" r:id="rId19"/>
    <p:sldId id="275" r:id="rId20"/>
    <p:sldId id="277" r:id="rId21"/>
    <p:sldId id="279" r:id="rId22"/>
    <p:sldId id="278" r:id="rId23"/>
    <p:sldId id="280" r:id="rId24"/>
    <p:sldId id="281" r:id="rId25"/>
    <p:sldId id="282" r:id="rId26"/>
    <p:sldId id="399" r:id="rId27"/>
    <p:sldId id="283" r:id="rId28"/>
    <p:sldId id="26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95972D-680B-4F38-BF7D-F90248CD5CDF}" v="1" dt="2026-02-23T04:03:52.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6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4FD14-1705-42AD-8CDF-2AFA9AD953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E6A402-64C7-47B7-A613-9EEF31B8D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4C3A63-89CE-49A3-8B8E-6713FC2F5759}"/>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FDBAD0A2-AEA2-430A-B536-E8C4A44CF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4970CC-7BF2-42EC-9DC8-B457CDB8E364}"/>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2566962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4E87-6B80-4540-BDB7-EBCE74646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18395F-F560-49D4-B299-54FFD86AEF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B5ED8-E6F5-4B30-A5C8-BA8700E41075}"/>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82BB1D54-F451-447D-AEC4-0734D0160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BBB1EA-631B-461F-92D3-09CB7FA36A36}"/>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280647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0FF5-DB63-49A7-B2E0-2ECEB0EE50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12D4A2-30AD-4E44-9732-A31641D2CA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1E50BD-8232-4E44-8836-3CC92CC98169}"/>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348FB390-2ED0-4D41-8FA0-FC3279E50B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3615AD-587B-45DD-831E-9F2F6B0E536C}"/>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1577663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7FFDB-BD13-47BA-A3BC-BFBDC8B205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26A47E-E2A1-470A-9C9A-DFECDAEFDE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60D6AA-D521-436B-9129-937C76AF9B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CA3D4B-A2FC-4B40-80C7-0760C39D88C0}"/>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6" name="Footer Placeholder 5">
            <a:extLst>
              <a:ext uri="{FF2B5EF4-FFF2-40B4-BE49-F238E27FC236}">
                <a16:creationId xmlns:a16="http://schemas.microsoft.com/office/drawing/2014/main" id="{D61443FA-1057-452C-920A-FA79F8395B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0ADBB1-B508-43AD-9BAC-ECCE8D3B02AB}"/>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514918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58B9-AC2B-41D1-98B1-28B68ABF30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640133A-379B-47A7-A621-327966497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69AB3E-95FA-414D-AF6F-2035199EE7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32BDE4-5135-4968-A935-D40AEC9B5C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B69473-5F8F-42E0-BC4A-92183453B6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4E43B6-5F1F-40AD-96A8-27064D5315DD}"/>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8" name="Footer Placeholder 7">
            <a:extLst>
              <a:ext uri="{FF2B5EF4-FFF2-40B4-BE49-F238E27FC236}">
                <a16:creationId xmlns:a16="http://schemas.microsoft.com/office/drawing/2014/main" id="{8639E9EE-E122-4A5A-A905-DB45F38F27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F2FA8D-9AAD-4F80-B5ED-C5A81CDD30AA}"/>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2602682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E79D6-8FD8-48E4-AE2B-71AD0C1FA3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DB237F-8BFF-4EC7-9767-D61482737F42}"/>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4" name="Footer Placeholder 3">
            <a:extLst>
              <a:ext uri="{FF2B5EF4-FFF2-40B4-BE49-F238E27FC236}">
                <a16:creationId xmlns:a16="http://schemas.microsoft.com/office/drawing/2014/main" id="{C394757A-1069-4045-AD48-74736F5C0A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E98284-763B-4D66-B542-0E6E3EC440CF}"/>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44509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056EF-4734-4EB1-BDF5-D5434CF2A7B4}"/>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3" name="Footer Placeholder 2">
            <a:extLst>
              <a:ext uri="{FF2B5EF4-FFF2-40B4-BE49-F238E27FC236}">
                <a16:creationId xmlns:a16="http://schemas.microsoft.com/office/drawing/2014/main" id="{46242AA9-C2B6-42E1-A3C1-41A177F6B5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7F3CFE-1A30-4EA0-88CE-BF88A2552179}"/>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4058589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10B3-93C7-4269-9313-D480187F81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F9DED8-3CD0-4FB2-95BF-530B53FA2B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51D49E-1BC4-4FE5-9EB1-84D3BDAC4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694644-95A6-46C2-AF3E-4AAC63E78A23}"/>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6" name="Footer Placeholder 5">
            <a:extLst>
              <a:ext uri="{FF2B5EF4-FFF2-40B4-BE49-F238E27FC236}">
                <a16:creationId xmlns:a16="http://schemas.microsoft.com/office/drawing/2014/main" id="{4ECB67CF-08C0-4C48-8F75-BEC30D2E4B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E25B37-9A87-4C77-A9B9-DBC6F6271992}"/>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3454962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5B62-191A-4752-83F3-D92FFFDD6C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54892B-3D87-4F62-819C-511B661291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3D51FB-578C-44AA-BF17-7CA4EE359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D72972-3DB0-4A70-9EE1-52ECAE39596E}"/>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6" name="Footer Placeholder 5">
            <a:extLst>
              <a:ext uri="{FF2B5EF4-FFF2-40B4-BE49-F238E27FC236}">
                <a16:creationId xmlns:a16="http://schemas.microsoft.com/office/drawing/2014/main" id="{C6D4AE6F-A1AC-446F-B3AE-2B2A318343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055A8C-40F6-4B98-BD95-53F7275EF617}"/>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3496662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DFBE-B643-4A36-88BA-078DBFBF52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B99B9B-B9ED-4ADA-A95E-9F3C3AFE44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2EE67-6997-4DCE-82E9-A604F4D68FCC}"/>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39684E3F-952D-4FAC-9466-6D69CA2BD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642BC-6E65-4139-AAE6-B8CF5358EA56}"/>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583775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E6382F-E3BD-41D1-9ECB-06BB28F2BE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119D01-5786-4E59-B7E6-E90D36E2CC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818CB-BD2B-4120-AAC7-77274E7EAFB6}"/>
              </a:ext>
            </a:extLst>
          </p:cNvPr>
          <p:cNvSpPr>
            <a:spLocks noGrp="1"/>
          </p:cNvSpPr>
          <p:nvPr>
            <p:ph type="dt" sz="half" idx="10"/>
          </p:nvPr>
        </p:nvSpPr>
        <p:spPr/>
        <p:txBody>
          <a:body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6052EEDA-FD93-42B0-8976-1462A33FF3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9CE6AE-7775-42A7-83BF-EA02111A79B8}"/>
              </a:ext>
            </a:extLst>
          </p:cNvPr>
          <p:cNvSpPr>
            <a:spLocks noGrp="1"/>
          </p:cNvSpPr>
          <p:nvPr>
            <p:ph type="sldNum" sz="quarter" idx="12"/>
          </p:nvPr>
        </p:nvSpPr>
        <p:spPr/>
        <p:txBody>
          <a:bodyPr/>
          <a:lstStyle/>
          <a:p>
            <a:fld id="{302F6737-37BE-477B-A02D-A42A4E2888EB}" type="slidenum">
              <a:rPr lang="en-IN" smtClean="0"/>
              <a:t>‹#›</a:t>
            </a:fld>
            <a:endParaRPr lang="en-IN"/>
          </a:p>
        </p:txBody>
      </p:sp>
    </p:spTree>
    <p:extLst>
      <p:ext uri="{BB962C8B-B14F-4D97-AF65-F5344CB8AC3E}">
        <p14:creationId xmlns:p14="http://schemas.microsoft.com/office/powerpoint/2010/main" val="391508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038609-DA83-4942-BDE2-17C2B2C70A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237B33-054B-4F71-BE07-F4E1F2995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B99FD8-11C4-42E0-88DC-05C6221F28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A34193-A7E6-47AE-BEC9-25BDE1167B43}" type="datetimeFigureOut">
              <a:rPr lang="en-IN" smtClean="0"/>
              <a:t>23-02-2026</a:t>
            </a:fld>
            <a:endParaRPr lang="en-IN"/>
          </a:p>
        </p:txBody>
      </p:sp>
      <p:sp>
        <p:nvSpPr>
          <p:cNvPr id="5" name="Footer Placeholder 4">
            <a:extLst>
              <a:ext uri="{FF2B5EF4-FFF2-40B4-BE49-F238E27FC236}">
                <a16:creationId xmlns:a16="http://schemas.microsoft.com/office/drawing/2014/main" id="{11DED513-5364-48F9-A989-7D009C9567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9CA0937-B2CE-4EA7-A8D2-8F48E7EB0D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F6737-37BE-477B-A02D-A42A4E2888EB}" type="slidenum">
              <a:rPr lang="en-IN" smtClean="0"/>
              <a:t>‹#›</a:t>
            </a:fld>
            <a:endParaRPr lang="en-IN"/>
          </a:p>
        </p:txBody>
      </p:sp>
    </p:spTree>
    <p:extLst>
      <p:ext uri="{BB962C8B-B14F-4D97-AF65-F5344CB8AC3E}">
        <p14:creationId xmlns:p14="http://schemas.microsoft.com/office/powerpoint/2010/main" val="391566080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9376" y="439991"/>
            <a:ext cx="11465880" cy="2851619"/>
          </a:xfrm>
        </p:spPr>
        <p:txBody>
          <a:bodyPr>
            <a:noAutofit/>
          </a:bodyPr>
          <a:lstStyle/>
          <a:p>
            <a:pPr algn="ctr"/>
            <a:r>
              <a:rPr lang="en-US" sz="4000" b="1" dirty="0">
                <a:latin typeface="Times New Roman" panose="02020603050405020304" pitchFamily="18" charset="0"/>
                <a:cs typeface="Times New Roman" panose="02020603050405020304" pitchFamily="18" charset="0"/>
              </a:rPr>
              <a:t>Stability Of Machine Learning Predictive Features Under Limited Data</a:t>
            </a:r>
          </a:p>
        </p:txBody>
      </p:sp>
      <p:sp>
        <p:nvSpPr>
          <p:cNvPr id="4" name="object 4">
            <a:extLst>
              <a:ext uri="{FF2B5EF4-FFF2-40B4-BE49-F238E27FC236}">
                <a16:creationId xmlns:a16="http://schemas.microsoft.com/office/drawing/2014/main" id="{13AA3C8D-D68D-98EB-804E-CB448BA64E85}"/>
              </a:ext>
            </a:extLst>
          </p:cNvPr>
          <p:cNvSpPr txBox="1"/>
          <p:nvPr/>
        </p:nvSpPr>
        <p:spPr>
          <a:xfrm>
            <a:off x="246743" y="4982872"/>
            <a:ext cx="4519099" cy="1059264"/>
          </a:xfrm>
          <a:prstGeom prst="rect">
            <a:avLst/>
          </a:prstGeom>
        </p:spPr>
        <p:txBody>
          <a:bodyPr vert="horz" wrap="square" lIns="0" tIns="12700" rIns="0" bIns="0" rtlCol="0">
            <a:spAutoFit/>
          </a:bodyPr>
          <a:lstStyle>
            <a:defPPr>
              <a:defRPr kern="0"/>
            </a:defPPr>
          </a:lstStyle>
          <a:p>
            <a:pPr algn="ctr">
              <a:lnSpc>
                <a:spcPct val="100000"/>
              </a:lnSpc>
              <a:spcBef>
                <a:spcPts val="100"/>
              </a:spcBef>
            </a:pPr>
            <a:r>
              <a:rPr sz="1800" b="1" dirty="0">
                <a:latin typeface="Times New Roman"/>
                <a:cs typeface="Times New Roman"/>
              </a:rPr>
              <a:t>Guided</a:t>
            </a:r>
            <a:r>
              <a:rPr sz="1800" b="1" spc="-40" dirty="0">
                <a:latin typeface="Times New Roman"/>
                <a:cs typeface="Times New Roman"/>
              </a:rPr>
              <a:t> </a:t>
            </a:r>
            <a:r>
              <a:rPr sz="1800" b="1" spc="-25" dirty="0">
                <a:latin typeface="Times New Roman"/>
                <a:cs typeface="Times New Roman"/>
              </a:rPr>
              <a:t>By:</a:t>
            </a:r>
            <a:endParaRPr sz="1800" dirty="0">
              <a:latin typeface="Times New Roman"/>
              <a:cs typeface="Times New Roman"/>
            </a:endParaRPr>
          </a:p>
          <a:p>
            <a:pPr marL="1270" algn="ctr">
              <a:lnSpc>
                <a:spcPct val="100000"/>
              </a:lnSpc>
              <a:spcBef>
                <a:spcPts val="5"/>
              </a:spcBef>
            </a:pPr>
            <a:r>
              <a:rPr sz="1800" b="1" dirty="0">
                <a:latin typeface="Times New Roman"/>
                <a:cs typeface="Times New Roman"/>
              </a:rPr>
              <a:t>Mrs.Reeta</a:t>
            </a:r>
            <a:r>
              <a:rPr sz="1800" b="1" spc="-75" dirty="0">
                <a:latin typeface="Times New Roman"/>
                <a:cs typeface="Times New Roman"/>
              </a:rPr>
              <a:t> </a:t>
            </a:r>
            <a:r>
              <a:rPr sz="1800" b="1" dirty="0">
                <a:latin typeface="Times New Roman"/>
                <a:cs typeface="Times New Roman"/>
              </a:rPr>
              <a:t>Joldrine</a:t>
            </a:r>
            <a:r>
              <a:rPr sz="1800" b="1" spc="-30" dirty="0">
                <a:latin typeface="Times New Roman"/>
                <a:cs typeface="Times New Roman"/>
              </a:rPr>
              <a:t> </a:t>
            </a:r>
            <a:r>
              <a:rPr sz="1800" b="1" spc="-10" dirty="0">
                <a:latin typeface="Times New Roman"/>
                <a:cs typeface="Times New Roman"/>
              </a:rPr>
              <a:t>Ph.D..,</a:t>
            </a:r>
            <a:endParaRPr sz="1800" dirty="0">
              <a:latin typeface="Times New Roman"/>
              <a:cs typeface="Times New Roman"/>
            </a:endParaRPr>
          </a:p>
          <a:p>
            <a:pPr marL="2540" algn="ctr">
              <a:lnSpc>
                <a:spcPct val="100000"/>
              </a:lnSpc>
            </a:pPr>
            <a:r>
              <a:rPr sz="1800" b="1" spc="-10" dirty="0">
                <a:latin typeface="Times New Roman"/>
                <a:cs typeface="Times New Roman"/>
              </a:rPr>
              <a:t>AP/CSE</a:t>
            </a:r>
            <a:endParaRPr sz="1800" dirty="0">
              <a:latin typeface="Times New Roman"/>
              <a:cs typeface="Times New Roman"/>
            </a:endParaRPr>
          </a:p>
          <a:p>
            <a:pPr marL="12065" marR="5080" algn="ctr">
              <a:lnSpc>
                <a:spcPct val="100000"/>
              </a:lnSpc>
              <a:spcBef>
                <a:spcPts val="15"/>
              </a:spcBef>
            </a:pPr>
            <a:r>
              <a:rPr sz="1400" dirty="0">
                <a:latin typeface="Times New Roman"/>
                <a:cs typeface="Times New Roman"/>
              </a:rPr>
              <a:t>Sri</a:t>
            </a:r>
            <a:r>
              <a:rPr sz="1400" spc="-50" dirty="0">
                <a:latin typeface="Times New Roman"/>
                <a:cs typeface="Times New Roman"/>
              </a:rPr>
              <a:t> </a:t>
            </a:r>
            <a:r>
              <a:rPr sz="1400" spc="-10" dirty="0">
                <a:latin typeface="Times New Roman"/>
                <a:cs typeface="Times New Roman"/>
              </a:rPr>
              <a:t>Ramakrishna</a:t>
            </a:r>
            <a:r>
              <a:rPr sz="1400" spc="35" dirty="0">
                <a:latin typeface="Times New Roman"/>
                <a:cs typeface="Times New Roman"/>
              </a:rPr>
              <a:t> </a:t>
            </a:r>
            <a:r>
              <a:rPr sz="1400" dirty="0">
                <a:latin typeface="Times New Roman"/>
                <a:cs typeface="Times New Roman"/>
              </a:rPr>
              <a:t>College</a:t>
            </a:r>
            <a:r>
              <a:rPr sz="1400" spc="35" dirty="0">
                <a:latin typeface="Times New Roman"/>
                <a:cs typeface="Times New Roman"/>
              </a:rPr>
              <a:t> </a:t>
            </a:r>
            <a:r>
              <a:rPr sz="1400" dirty="0">
                <a:latin typeface="Times New Roman"/>
                <a:cs typeface="Times New Roman"/>
              </a:rPr>
              <a:t>of</a:t>
            </a:r>
            <a:r>
              <a:rPr sz="1400" spc="-55" dirty="0">
                <a:latin typeface="Times New Roman"/>
                <a:cs typeface="Times New Roman"/>
              </a:rPr>
              <a:t> </a:t>
            </a:r>
            <a:r>
              <a:rPr sz="1400" spc="-10" dirty="0">
                <a:latin typeface="Times New Roman"/>
                <a:cs typeface="Times New Roman"/>
              </a:rPr>
              <a:t>Engineering Perambalur</a:t>
            </a:r>
            <a:r>
              <a:rPr sz="1400" spc="25" dirty="0">
                <a:latin typeface="Times New Roman"/>
                <a:cs typeface="Times New Roman"/>
              </a:rPr>
              <a:t> </a:t>
            </a:r>
            <a:r>
              <a:rPr sz="1400" spc="-50" dirty="0">
                <a:latin typeface="Times New Roman"/>
                <a:cs typeface="Times New Roman"/>
              </a:rPr>
              <a:t>.</a:t>
            </a:r>
            <a:endParaRPr sz="1400" dirty="0">
              <a:latin typeface="Times New Roman"/>
              <a:cs typeface="Times New Roman"/>
            </a:endParaRPr>
          </a:p>
        </p:txBody>
      </p:sp>
      <p:sp>
        <p:nvSpPr>
          <p:cNvPr id="5" name="object 2">
            <a:extLst>
              <a:ext uri="{FF2B5EF4-FFF2-40B4-BE49-F238E27FC236}">
                <a16:creationId xmlns:a16="http://schemas.microsoft.com/office/drawing/2014/main" id="{01E6C410-6E73-3C82-AF9D-07ED47C8E998}"/>
              </a:ext>
            </a:extLst>
          </p:cNvPr>
          <p:cNvSpPr txBox="1"/>
          <p:nvPr/>
        </p:nvSpPr>
        <p:spPr>
          <a:xfrm>
            <a:off x="8742429" y="4190476"/>
            <a:ext cx="3202827" cy="2227533"/>
          </a:xfrm>
          <a:prstGeom prst="rect">
            <a:avLst/>
          </a:prstGeom>
        </p:spPr>
        <p:txBody>
          <a:bodyPr vert="horz" wrap="square" lIns="0" tIns="13970" rIns="0" bIns="0" rtlCol="0">
            <a:spAutoFit/>
          </a:bodyPr>
          <a:lstStyle>
            <a:defPPr>
              <a:defRPr kern="0"/>
            </a:defPPr>
          </a:lstStyle>
          <a:p>
            <a:pPr marL="491490">
              <a:lnSpc>
                <a:spcPct val="100000"/>
              </a:lnSpc>
              <a:spcBef>
                <a:spcPts val="110"/>
              </a:spcBef>
            </a:pPr>
            <a:r>
              <a:rPr sz="1600" b="1" dirty="0">
                <a:latin typeface="Times New Roman"/>
                <a:cs typeface="Times New Roman"/>
              </a:rPr>
              <a:t>PRESENTED</a:t>
            </a:r>
            <a:r>
              <a:rPr sz="1600" b="1" spc="-145" dirty="0">
                <a:latin typeface="Times New Roman"/>
                <a:cs typeface="Times New Roman"/>
              </a:rPr>
              <a:t> </a:t>
            </a:r>
            <a:r>
              <a:rPr sz="1600" b="1" spc="-25" dirty="0">
                <a:latin typeface="Times New Roman"/>
                <a:cs typeface="Times New Roman"/>
              </a:rPr>
              <a:t>BY</a:t>
            </a:r>
            <a:endParaRPr sz="1600" dirty="0">
              <a:latin typeface="Times New Roman"/>
              <a:cs typeface="Times New Roman"/>
            </a:endParaRPr>
          </a:p>
          <a:p>
            <a:pPr marL="33655" marR="65405">
              <a:lnSpc>
                <a:spcPts val="3240"/>
              </a:lnSpc>
              <a:spcBef>
                <a:spcPts val="345"/>
              </a:spcBef>
            </a:pPr>
            <a:r>
              <a:rPr sz="1400" b="1" dirty="0">
                <a:latin typeface="Times New Roman"/>
                <a:cs typeface="Times New Roman"/>
              </a:rPr>
              <a:t>IBRAHIM</a:t>
            </a:r>
            <a:r>
              <a:rPr sz="1400" b="1" spc="-35" dirty="0">
                <a:latin typeface="Times New Roman"/>
                <a:cs typeface="Times New Roman"/>
              </a:rPr>
              <a:t> </a:t>
            </a:r>
            <a:r>
              <a:rPr sz="1400" b="1" dirty="0">
                <a:latin typeface="Times New Roman"/>
                <a:cs typeface="Times New Roman"/>
              </a:rPr>
              <a:t>SHA</a:t>
            </a:r>
            <a:r>
              <a:rPr sz="1400" b="1" spc="-30" dirty="0">
                <a:latin typeface="Times New Roman"/>
                <a:cs typeface="Times New Roman"/>
              </a:rPr>
              <a:t> </a:t>
            </a:r>
            <a:r>
              <a:rPr sz="1400" b="1" dirty="0">
                <a:latin typeface="Times New Roman"/>
                <a:cs typeface="Times New Roman"/>
              </a:rPr>
              <a:t>.K</a:t>
            </a:r>
            <a:r>
              <a:rPr sz="1400" b="1" spc="-45" dirty="0">
                <a:latin typeface="Times New Roman"/>
                <a:cs typeface="Times New Roman"/>
              </a:rPr>
              <a:t> </a:t>
            </a:r>
            <a:r>
              <a:rPr sz="1400" b="1" spc="-10" dirty="0">
                <a:latin typeface="Times New Roman"/>
                <a:cs typeface="Times New Roman"/>
              </a:rPr>
              <a:t>(815422243007) </a:t>
            </a:r>
            <a:r>
              <a:rPr sz="1400" b="1" dirty="0">
                <a:latin typeface="Times New Roman"/>
                <a:cs typeface="Times New Roman"/>
              </a:rPr>
              <a:t>PRASANNA</a:t>
            </a:r>
            <a:r>
              <a:rPr sz="1400" b="1" spc="-20" dirty="0">
                <a:latin typeface="Times New Roman"/>
                <a:cs typeface="Times New Roman"/>
              </a:rPr>
              <a:t> </a:t>
            </a:r>
            <a:r>
              <a:rPr sz="1400" b="1" dirty="0">
                <a:latin typeface="Times New Roman"/>
                <a:cs typeface="Times New Roman"/>
              </a:rPr>
              <a:t>.G</a:t>
            </a:r>
            <a:r>
              <a:rPr lang="en-IN" sz="1400" b="1" dirty="0">
                <a:latin typeface="Times New Roman"/>
                <a:cs typeface="Times New Roman"/>
              </a:rPr>
              <a:t>    </a:t>
            </a:r>
            <a:r>
              <a:rPr sz="1400" b="1" spc="-55" dirty="0">
                <a:latin typeface="Times New Roman"/>
                <a:cs typeface="Times New Roman"/>
              </a:rPr>
              <a:t> </a:t>
            </a:r>
            <a:r>
              <a:rPr lang="en-IN" sz="1400" b="1" spc="-55" dirty="0">
                <a:latin typeface="Times New Roman"/>
                <a:cs typeface="Times New Roman"/>
              </a:rPr>
              <a:t>  </a:t>
            </a:r>
            <a:r>
              <a:rPr sz="1400" b="1" spc="-10" dirty="0">
                <a:latin typeface="Times New Roman"/>
                <a:cs typeface="Times New Roman"/>
              </a:rPr>
              <a:t>(815422243013)</a:t>
            </a:r>
            <a:endParaRPr sz="1400" dirty="0">
              <a:latin typeface="Times New Roman"/>
              <a:cs typeface="Times New Roman"/>
            </a:endParaRPr>
          </a:p>
          <a:p>
            <a:pPr marL="12700">
              <a:lnSpc>
                <a:spcPct val="100000"/>
              </a:lnSpc>
              <a:spcBef>
                <a:spcPts val="1170"/>
              </a:spcBef>
            </a:pPr>
            <a:r>
              <a:rPr sz="1400" b="1" dirty="0">
                <a:latin typeface="Times New Roman"/>
                <a:cs typeface="Times New Roman"/>
              </a:rPr>
              <a:t>RAHUL.</a:t>
            </a:r>
            <a:r>
              <a:rPr sz="1400" b="1" spc="-30" dirty="0">
                <a:latin typeface="Times New Roman"/>
                <a:cs typeface="Times New Roman"/>
              </a:rPr>
              <a:t> </a:t>
            </a:r>
            <a:r>
              <a:rPr sz="1400" b="1" dirty="0">
                <a:latin typeface="Times New Roman"/>
                <a:cs typeface="Times New Roman"/>
              </a:rPr>
              <a:t>P</a:t>
            </a:r>
            <a:r>
              <a:rPr lang="en-IN" sz="1400" b="1" dirty="0">
                <a:latin typeface="Times New Roman"/>
                <a:cs typeface="Times New Roman"/>
              </a:rPr>
              <a:t>               </a:t>
            </a:r>
            <a:r>
              <a:rPr sz="1400" b="1" spc="-70" dirty="0">
                <a:latin typeface="Times New Roman"/>
                <a:cs typeface="Times New Roman"/>
              </a:rPr>
              <a:t> </a:t>
            </a:r>
            <a:r>
              <a:rPr sz="1400" b="1" spc="-10" dirty="0">
                <a:latin typeface="Times New Roman"/>
                <a:cs typeface="Times New Roman"/>
              </a:rPr>
              <a:t>(815422243016)</a:t>
            </a:r>
            <a:endParaRPr lang="en-IN" sz="1400" b="1" spc="-10" dirty="0">
              <a:latin typeface="Times New Roman"/>
              <a:cs typeface="Times New Roman"/>
            </a:endParaRPr>
          </a:p>
          <a:p>
            <a:pPr marL="12700">
              <a:spcBef>
                <a:spcPts val="1170"/>
              </a:spcBef>
            </a:pPr>
            <a:r>
              <a:rPr lang="en-IN" sz="1400" b="1" spc="-10" dirty="0">
                <a:latin typeface="Times New Roman"/>
                <a:cs typeface="Times New Roman"/>
              </a:rPr>
              <a:t>VIJAYANANDH</a:t>
            </a:r>
            <a:r>
              <a:rPr lang="en-IN" sz="1400" b="1" spc="-75" dirty="0">
                <a:latin typeface="Times New Roman"/>
                <a:cs typeface="Times New Roman"/>
              </a:rPr>
              <a:t> </a:t>
            </a:r>
            <a:r>
              <a:rPr lang="en-IN" sz="1400" b="1" dirty="0">
                <a:latin typeface="Times New Roman"/>
                <a:cs typeface="Times New Roman"/>
              </a:rPr>
              <a:t>.G</a:t>
            </a:r>
            <a:r>
              <a:rPr lang="en-IN" sz="1400" b="1" spc="-35" dirty="0">
                <a:latin typeface="Times New Roman"/>
                <a:cs typeface="Times New Roman"/>
              </a:rPr>
              <a:t> </a:t>
            </a:r>
            <a:r>
              <a:rPr lang="en-IN" sz="1400" b="1" spc="-10" dirty="0">
                <a:latin typeface="Times New Roman"/>
                <a:cs typeface="Times New Roman"/>
              </a:rPr>
              <a:t>(815422243028)</a:t>
            </a:r>
            <a:endParaRPr lang="en-IN" sz="1400" dirty="0">
              <a:latin typeface="Times New Roman"/>
              <a:cs typeface="Times New Roman"/>
            </a:endParaRPr>
          </a:p>
          <a:p>
            <a:pPr marL="12700">
              <a:lnSpc>
                <a:spcPct val="100000"/>
              </a:lnSpc>
              <a:spcBef>
                <a:spcPts val="1170"/>
              </a:spcBef>
            </a:pPr>
            <a:endParaRPr sz="1400" dirty="0">
              <a:latin typeface="Times New Roman"/>
              <a:cs typeface="Times New Roman"/>
            </a:endParaRPr>
          </a:p>
        </p:txBody>
      </p:sp>
      <p:sp>
        <p:nvSpPr>
          <p:cNvPr id="7" name="TextBox 6">
            <a:extLst>
              <a:ext uri="{FF2B5EF4-FFF2-40B4-BE49-F238E27FC236}">
                <a16:creationId xmlns:a16="http://schemas.microsoft.com/office/drawing/2014/main" id="{E9A7FFFD-EE1F-6591-CD56-7E28AD8044B2}"/>
              </a:ext>
            </a:extLst>
          </p:cNvPr>
          <p:cNvSpPr txBox="1"/>
          <p:nvPr/>
        </p:nvSpPr>
        <p:spPr>
          <a:xfrm>
            <a:off x="5179562" y="3040258"/>
            <a:ext cx="1828800" cy="1828800"/>
          </a:xfrm>
          <a:prstGeom prst="rect">
            <a:avLst/>
          </a:prstGeom>
          <a:noFill/>
        </p:spPr>
        <p:txBody>
          <a:bodyPr wrap="square" rtlCol="0">
            <a:spAutoFit/>
          </a:bodyPr>
          <a:lstStyle/>
          <a:p>
            <a:pPr algn="l"/>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76" y="1"/>
            <a:ext cx="11233248" cy="620688"/>
          </a:xfrm>
          <a:solidFill>
            <a:srgbClr val="00B0F0"/>
          </a:solidFill>
        </p:spPr>
        <p:txBody>
          <a:bodyPr>
            <a:normAutofit fontScale="90000"/>
          </a:bodyPr>
          <a:lstStyle/>
          <a:p>
            <a:r>
              <a:rPr lang="en-US" b="1" dirty="0">
                <a:latin typeface="Garamond" panose="02020404030301010803" pitchFamily="18" charset="0"/>
                <a:cs typeface="Times New Roman" panose="02020603050405020304" pitchFamily="18" charset="0"/>
              </a:rPr>
              <a:t>Aim and Objective</a:t>
            </a:r>
            <a:endParaRPr lang="en-US" dirty="0">
              <a:latin typeface="Garamond" panose="02020404030301010803" pitchFamily="18" charset="0"/>
              <a:cs typeface="Times New Roman" panose="02020603050405020304" pitchFamily="18" charset="0"/>
            </a:endParaRPr>
          </a:p>
        </p:txBody>
      </p:sp>
      <p:sp>
        <p:nvSpPr>
          <p:cNvPr id="3" name="Content Placeholder 2"/>
          <p:cNvSpPr>
            <a:spLocks noGrp="1"/>
          </p:cNvSpPr>
          <p:nvPr>
            <p:ph idx="1"/>
          </p:nvPr>
        </p:nvSpPr>
        <p:spPr>
          <a:xfrm>
            <a:off x="479376" y="836712"/>
            <a:ext cx="11233248" cy="5904656"/>
          </a:xfrm>
          <a:noFill/>
          <a:ln>
            <a:noFill/>
          </a:ln>
        </p:spPr>
        <p:txBody>
          <a:bodyPr>
            <a:noAutofit/>
          </a:bodyPr>
          <a:lstStyle/>
          <a:p>
            <a:pPr marL="0" indent="0" algn="just">
              <a:spcBef>
                <a:spcPts val="0"/>
              </a:spcBef>
              <a:buNone/>
            </a:pPr>
            <a:r>
              <a:rPr lang="en-US" sz="2400" b="1" dirty="0">
                <a:latin typeface="Garamond" panose="02020404030301010803" pitchFamily="18" charset="0"/>
                <a:cs typeface="Times New Roman" pitchFamily="18" charset="0"/>
              </a:rPr>
              <a:t>Aim</a:t>
            </a:r>
          </a:p>
          <a:p>
            <a:pPr marL="0" indent="0" algn="just">
              <a:lnSpc>
                <a:spcPct val="150000"/>
              </a:lnSpc>
              <a:spcBef>
                <a:spcPts val="0"/>
              </a:spcBef>
              <a:buNone/>
            </a:pPr>
            <a:r>
              <a:rPr lang="en-US" sz="1800" dirty="0">
                <a:latin typeface="Times New Roman" panose="02020603050405020304" pitchFamily="18" charset="0"/>
                <a:cs typeface="Times New Roman" panose="02020603050405020304" pitchFamily="18" charset="0"/>
              </a:rPr>
              <a:t>The aim of this project is to analyze and evaluate the stability of machine learning predictive features under limited and incomplete data conditions, and to compare traditional machine learning methods with a descriptive ML approach that utilizes data abstraction techniques to ensure consistent, explainable, and accurate feature selection for reliable automatic decision-making.</a:t>
            </a:r>
          </a:p>
          <a:p>
            <a:pPr marL="0" indent="0" algn="just">
              <a:spcBef>
                <a:spcPts val="0"/>
              </a:spcBef>
              <a:buNone/>
            </a:pPr>
            <a:endParaRPr lang="en-US" sz="1800" dirty="0">
              <a:latin typeface="Times New Roman" panose="02020603050405020304" pitchFamily="18" charset="0"/>
              <a:cs typeface="Times New Roman" panose="02020603050405020304" pitchFamily="18" charset="0"/>
            </a:endParaRPr>
          </a:p>
          <a:p>
            <a:pPr marL="0" indent="0" algn="just">
              <a:spcBef>
                <a:spcPts val="0"/>
              </a:spcBef>
              <a:buNone/>
            </a:pPr>
            <a:r>
              <a:rPr lang="en-US" sz="2400" b="1" dirty="0">
                <a:latin typeface="Garamond" panose="02020404030301010803" pitchFamily="18" charset="0"/>
                <a:cs typeface="Times New Roman" pitchFamily="18" charset="0"/>
              </a:rPr>
              <a:t>Objectives</a:t>
            </a:r>
          </a:p>
          <a:p>
            <a:pPr algn="just" eaLnBrk="0" fontAlgn="base" hangingPunct="0">
              <a:lnSpc>
                <a:spcPct val="15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Evaluate the stability of predictive features in machine learning models when trained on limited and incomplete data.</a:t>
            </a:r>
          </a:p>
          <a:p>
            <a:pPr algn="just" eaLnBrk="0" fontAlgn="base" hangingPunct="0">
              <a:lnSpc>
                <a:spcPct val="15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Compare traditional machine learning methods with a descriptive ML approach based on data abstractions.</a:t>
            </a:r>
          </a:p>
          <a:p>
            <a:pPr algn="just" eaLnBrk="0" fontAlgn="base" hangingPunct="0">
              <a:lnSpc>
                <a:spcPct val="15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Assess classification accuracy under increasing data incompleteness.</a:t>
            </a:r>
          </a:p>
          <a:p>
            <a:pPr algn="just" eaLnBrk="0" fontAlgn="base" hangingPunct="0">
              <a:lnSpc>
                <a:spcPct val="15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Analyze feature selection consistency to improve </a:t>
            </a:r>
            <a:r>
              <a:rPr lang="en-US" altLang="en-US" sz="1800" dirty="0" err="1">
                <a:latin typeface="Times New Roman" panose="02020603050405020304" pitchFamily="18" charset="0"/>
                <a:cs typeface="Times New Roman" panose="02020603050405020304" pitchFamily="18" charset="0"/>
              </a:rPr>
              <a:t>explainability</a:t>
            </a:r>
            <a:r>
              <a:rPr lang="en-US" altLang="en-US" sz="1800" dirty="0">
                <a:latin typeface="Times New Roman" panose="02020603050405020304" pitchFamily="18" charset="0"/>
                <a:cs typeface="Times New Roman" panose="02020603050405020304" pitchFamily="18" charset="0"/>
              </a:rPr>
              <a:t> and reliability of ML decisions.</a:t>
            </a:r>
          </a:p>
          <a:p>
            <a:pPr algn="just" eaLnBrk="0" fontAlgn="base" hangingPunct="0">
              <a:lnSpc>
                <a:spcPct val="15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Demonstrate the potential of abstraction-based ML for robust automatic decision-making in real-world, data-scarce scenarios.</a:t>
            </a:r>
          </a:p>
          <a:p>
            <a:pPr marL="0" lvl="0" indent="0" eaLnBrk="0" fontAlgn="base" hangingPunct="0">
              <a:spcBef>
                <a:spcPct val="0"/>
              </a:spcBef>
              <a:spcAft>
                <a:spcPct val="0"/>
              </a:spcAft>
              <a:buNone/>
            </a:pPr>
            <a:endParaRPr lang="en-US" altLang="en-US" sz="2400" dirty="0">
              <a:latin typeface="Times New Roman" panose="02020603050405020304" pitchFamily="18" charset="0"/>
              <a:cs typeface="Times New Roman" panose="02020603050405020304" pitchFamily="18" charset="0"/>
            </a:endParaRPr>
          </a:p>
          <a:p>
            <a:pPr marL="0" indent="0" algn="just">
              <a:spcBef>
                <a:spcPts val="0"/>
              </a:spcBef>
              <a:buNone/>
            </a:pPr>
            <a:endParaRPr lang="en-US" sz="2400" dirty="0">
              <a:latin typeface="Garamond" panose="02020404030301010803" pitchFamily="18" charset="0"/>
              <a:cs typeface="Times New Roman" pitchFamily="18" charset="0"/>
            </a:endParaRPr>
          </a:p>
        </p:txBody>
      </p:sp>
    </p:spTree>
    <p:extLst>
      <p:ext uri="{BB962C8B-B14F-4D97-AF65-F5344CB8AC3E}">
        <p14:creationId xmlns:p14="http://schemas.microsoft.com/office/powerpoint/2010/main" val="159501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76" y="1"/>
            <a:ext cx="11233248" cy="620688"/>
          </a:xfrm>
          <a:solidFill>
            <a:srgbClr val="00B0F0"/>
          </a:solidFill>
        </p:spPr>
        <p:txBody>
          <a:bodyPr>
            <a:normAutofit fontScale="90000"/>
          </a:bodyPr>
          <a:lstStyle/>
          <a:p>
            <a:r>
              <a:rPr lang="en-US" b="1" dirty="0">
                <a:latin typeface="Garamond" panose="02020404030301010803" pitchFamily="18" charset="0"/>
                <a:cs typeface="Times New Roman" panose="02020603050405020304" pitchFamily="18" charset="0"/>
              </a:rPr>
              <a:t>Abstract</a:t>
            </a:r>
            <a:endParaRPr lang="en-US" dirty="0">
              <a:latin typeface="Garamond" panose="02020404030301010803"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505F65EC-A157-B9A6-85F7-35D65380C995}"/>
              </a:ext>
            </a:extLst>
          </p:cNvPr>
          <p:cNvSpPr>
            <a:spLocks noGrp="1" noChangeArrowheads="1"/>
          </p:cNvSpPr>
          <p:nvPr>
            <p:ph idx="1"/>
          </p:nvPr>
        </p:nvSpPr>
        <p:spPr bwMode="auto">
          <a:xfrm>
            <a:off x="479376" y="852760"/>
            <a:ext cx="10729192" cy="539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In a world where Machine Learning (ML) is increasingly used to make predictions about critical events, such as health outcomes, it is crucial to ensure decision-makers have access to explainable, consistent, and relevant predictive features. </a:t>
            </a:r>
          </a:p>
          <a:p>
            <a:pPr algn="just">
              <a:lnSpc>
                <a:spcPct val="150000"/>
              </a:lnSpc>
            </a:pPr>
            <a:r>
              <a:rPr lang="en-US" sz="2400" dirty="0">
                <a:latin typeface="Times New Roman" panose="02020603050405020304" pitchFamily="18" charset="0"/>
                <a:cs typeface="Times New Roman" panose="02020603050405020304" pitchFamily="18" charset="0"/>
              </a:rPr>
              <a:t>ML prediction relies on perfect data with similar distributions for testing and validation. These results are compared with those of humans, who use more noisy and limited data. </a:t>
            </a:r>
          </a:p>
          <a:p>
            <a:pPr algn="just">
              <a:lnSpc>
                <a:spcPct val="150000"/>
              </a:lnSpc>
            </a:pPr>
            <a:r>
              <a:rPr lang="en-US" sz="2400" dirty="0">
                <a:latin typeface="Times New Roman" panose="02020603050405020304" pitchFamily="18" charset="0"/>
                <a:cs typeface="Times New Roman" panose="02020603050405020304" pitchFamily="18" charset="0"/>
              </a:rPr>
              <a:t>Human predictions overcome those limitations by learning from abstractions. </a:t>
            </a:r>
          </a:p>
          <a:p>
            <a:pPr algn="just">
              <a:lnSpc>
                <a:spcPct val="150000"/>
              </a:lnSpc>
            </a:pPr>
            <a:r>
              <a:rPr lang="en-US" sz="2400" dirty="0">
                <a:latin typeface="Times New Roman" panose="02020603050405020304" pitchFamily="18" charset="0"/>
                <a:cs typeface="Times New Roman" panose="02020603050405020304" pitchFamily="18" charset="0"/>
              </a:rPr>
              <a:t>It demonstrates the possibility of developing ML capable of automatic decision-making.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4981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89CA2E7-81B1-466C-A038-8C7B31E8E8AF}"/>
              </a:ext>
            </a:extLst>
          </p:cNvPr>
          <p:cNvSpPr>
            <a:spLocks noGrp="1" noChangeArrowheads="1"/>
          </p:cNvSpPr>
          <p:nvPr>
            <p:ph idx="1"/>
          </p:nvPr>
        </p:nvSpPr>
        <p:spPr bwMode="auto">
          <a:xfrm>
            <a:off x="542365" y="1304905"/>
            <a:ext cx="10901082"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Focuses on machine learning classification models operating under limited and incomplete data conditions.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Examines predictive feature stability and </a:t>
            </a:r>
            <a:r>
              <a:rPr lang="en-US" altLang="en-US" sz="2400" dirty="0" err="1">
                <a:latin typeface="Times New Roman" panose="02020603050405020304" pitchFamily="18" charset="0"/>
                <a:cs typeface="Times New Roman" panose="02020603050405020304" pitchFamily="18" charset="0"/>
              </a:rPr>
              <a:t>explainability</a:t>
            </a:r>
            <a:r>
              <a:rPr lang="en-US" altLang="en-US" sz="2400" dirty="0">
                <a:latin typeface="Times New Roman" panose="02020603050405020304" pitchFamily="18" charset="0"/>
                <a:cs typeface="Times New Roman" panose="02020603050405020304" pitchFamily="18" charset="0"/>
              </a:rPr>
              <a:t> rather than only accuracy.</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Compares traditional ML techniques with an abstraction-based descriptive ML approach.</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Evaluates performance using classification accuracy and feature selection consistency.</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Applicable to critical decision-making domains such as healthcare and risk prediction, where data scarcity is common.</a:t>
            </a:r>
          </a:p>
        </p:txBody>
      </p:sp>
      <p:sp>
        <p:nvSpPr>
          <p:cNvPr id="5" name="Title 1">
            <a:extLst>
              <a:ext uri="{FF2B5EF4-FFF2-40B4-BE49-F238E27FC236}">
                <a16:creationId xmlns:a16="http://schemas.microsoft.com/office/drawing/2014/main" id="{8EE2ED4C-BD01-403B-B821-265097FCCF12}"/>
              </a:ext>
            </a:extLst>
          </p:cNvPr>
          <p:cNvSpPr txBox="1">
            <a:spLocks/>
          </p:cNvSpPr>
          <p:nvPr/>
        </p:nvSpPr>
        <p:spPr>
          <a:xfrm>
            <a:off x="276613" y="411106"/>
            <a:ext cx="11638773"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SCOPE</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82652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F352E9F-CEC7-4419-BF5F-E685F6F85561}"/>
              </a:ext>
            </a:extLst>
          </p:cNvPr>
          <p:cNvGraphicFramePr>
            <a:graphicFrameLocks noGrp="1"/>
          </p:cNvGraphicFramePr>
          <p:nvPr>
            <p:ph idx="1"/>
            <p:extLst>
              <p:ext uri="{D42A27DB-BD31-4B8C-83A1-F6EECF244321}">
                <p14:modId xmlns:p14="http://schemas.microsoft.com/office/powerpoint/2010/main" val="2814697957"/>
              </p:ext>
            </p:extLst>
          </p:nvPr>
        </p:nvGraphicFramePr>
        <p:xfrm>
          <a:off x="312821" y="1105229"/>
          <a:ext cx="11638774" cy="5630165"/>
        </p:xfrm>
        <a:graphic>
          <a:graphicData uri="http://schemas.openxmlformats.org/drawingml/2006/table">
            <a:tbl>
              <a:tblPr firstRow="1" bandRow="1">
                <a:tableStyleId>{BDBED569-4797-4DF1-A0F4-6AAB3CD982D8}</a:tableStyleId>
              </a:tblPr>
              <a:tblGrid>
                <a:gridCol w="550408">
                  <a:extLst>
                    <a:ext uri="{9D8B030D-6E8A-4147-A177-3AD203B41FA5}">
                      <a16:colId xmlns:a16="http://schemas.microsoft.com/office/drawing/2014/main" val="1218731625"/>
                    </a:ext>
                  </a:extLst>
                </a:gridCol>
                <a:gridCol w="1928097">
                  <a:extLst>
                    <a:ext uri="{9D8B030D-6E8A-4147-A177-3AD203B41FA5}">
                      <a16:colId xmlns:a16="http://schemas.microsoft.com/office/drawing/2014/main" val="685500622"/>
                    </a:ext>
                  </a:extLst>
                </a:gridCol>
                <a:gridCol w="1756611">
                  <a:extLst>
                    <a:ext uri="{9D8B030D-6E8A-4147-A177-3AD203B41FA5}">
                      <a16:colId xmlns:a16="http://schemas.microsoft.com/office/drawing/2014/main" val="941719507"/>
                    </a:ext>
                  </a:extLst>
                </a:gridCol>
                <a:gridCol w="1376345">
                  <a:extLst>
                    <a:ext uri="{9D8B030D-6E8A-4147-A177-3AD203B41FA5}">
                      <a16:colId xmlns:a16="http://schemas.microsoft.com/office/drawing/2014/main" val="1685633207"/>
                    </a:ext>
                  </a:extLst>
                </a:gridCol>
                <a:gridCol w="3116687">
                  <a:extLst>
                    <a:ext uri="{9D8B030D-6E8A-4147-A177-3AD203B41FA5}">
                      <a16:colId xmlns:a16="http://schemas.microsoft.com/office/drawing/2014/main" val="602754111"/>
                    </a:ext>
                  </a:extLst>
                </a:gridCol>
                <a:gridCol w="2910626">
                  <a:extLst>
                    <a:ext uri="{9D8B030D-6E8A-4147-A177-3AD203B41FA5}">
                      <a16:colId xmlns:a16="http://schemas.microsoft.com/office/drawing/2014/main" val="51419147"/>
                    </a:ext>
                  </a:extLst>
                </a:gridCol>
              </a:tblGrid>
              <a:tr h="581225">
                <a:tc>
                  <a:txBody>
                    <a:bodyPr/>
                    <a:lstStyle/>
                    <a:p>
                      <a:pPr>
                        <a:lnSpc>
                          <a:spcPct val="150000"/>
                        </a:lnSpc>
                      </a:pPr>
                      <a:r>
                        <a:rPr lang="en-IN" sz="1600" dirty="0"/>
                        <a:t>S. No.</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600" dirty="0"/>
                        <a:t>Title of the Paper</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600" dirty="0"/>
                        <a:t>Author &amp; Year</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600" dirty="0"/>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600" dirty="0"/>
                        <a:t>Advantages</a:t>
                      </a:r>
                      <a:endParaRPr lang="en-IN" sz="16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600" dirty="0"/>
                        <a:t>Disadvantages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1673457"/>
                  </a:ext>
                </a:extLst>
              </a:tr>
              <a:tr h="581225">
                <a:tc>
                  <a:txBody>
                    <a:bodyPr/>
                    <a:lstStyle/>
                    <a:p>
                      <a:pPr>
                        <a:lnSpc>
                          <a:spcPct val="150000"/>
                        </a:lnSpc>
                      </a:pPr>
                      <a:r>
                        <a:rPr lang="en-US" sz="1200" dirty="0"/>
                        <a:t>1</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Deep learning for low-data drug discovery: Hurdles and opportunities</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D. van </a:t>
                      </a:r>
                      <a:r>
                        <a:rPr lang="en-IN" sz="1200" dirty="0" err="1"/>
                        <a:t>Tilborg</a:t>
                      </a:r>
                      <a:r>
                        <a:rPr lang="en-IN" sz="1200" dirty="0"/>
                        <a:t>, H. Brinkmann, E. </a:t>
                      </a:r>
                      <a:r>
                        <a:rPr lang="en-IN" sz="1200" dirty="0" err="1"/>
                        <a:t>Criscuolo</a:t>
                      </a:r>
                      <a:r>
                        <a:rPr lang="en-IN" sz="1200" dirty="0"/>
                        <a:t>, L. </a:t>
                      </a:r>
                      <a:r>
                        <a:rPr lang="en-IN" sz="1200" dirty="0" err="1"/>
                        <a:t>Rossen</a:t>
                      </a:r>
                      <a:r>
                        <a:rPr lang="en-IN" sz="1200" dirty="0"/>
                        <a:t>, R. </a:t>
                      </a:r>
                      <a:r>
                        <a:rPr lang="en-IN" sz="1200" dirty="0" err="1"/>
                        <a:t>Özçelik</a:t>
                      </a:r>
                      <a:r>
                        <a:rPr lang="en-IN" sz="1200" dirty="0"/>
                        <a:t>, and F. </a:t>
                      </a:r>
                      <a:r>
                        <a:rPr lang="en-IN" sz="1200" dirty="0" err="1"/>
                        <a:t>Grisoni</a:t>
                      </a:r>
                      <a:r>
                        <a:rPr lang="en-IN" sz="1200" dirty="0"/>
                        <a:t>, 2024</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Transfer Learning for Drug Discovery</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Efficient Knowledge Extraction from Small Datasets</a:t>
                      </a:r>
                    </a:p>
                    <a:p>
                      <a:pPr marL="285750" indent="-285750">
                        <a:lnSpc>
                          <a:spcPct val="150000"/>
                        </a:lnSpc>
                        <a:buFont typeface="Arial" panose="020B0604020202020204" pitchFamily="34" charset="0"/>
                        <a:buChar char="•"/>
                      </a:pPr>
                      <a:r>
                        <a:rPr lang="en-US" sz="1200" dirty="0"/>
                        <a:t>Faster Iteration in Early-Stage Drug Discovery</a:t>
                      </a:r>
                    </a:p>
                    <a:p>
                      <a:pPr marL="285750" indent="-285750">
                        <a:lnSpc>
                          <a:spcPct val="150000"/>
                        </a:lnSpc>
                        <a:buFont typeface="Arial" panose="020B0604020202020204" pitchFamily="34" charset="0"/>
                        <a:buChar char="•"/>
                      </a:pPr>
                      <a:r>
                        <a:rPr lang="en-US" sz="1200" dirty="0"/>
                        <a:t>Integration of Prior Chemical and Biological Knowledge</a:t>
                      </a:r>
                    </a:p>
                    <a:p>
                      <a:pPr>
                        <a:lnSpc>
                          <a:spcPct val="150000"/>
                        </a:lnSpc>
                      </a:pP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Data Scarcity and Overfitting</a:t>
                      </a:r>
                    </a:p>
                    <a:p>
                      <a:pPr marL="285750" indent="-285750">
                        <a:lnSpc>
                          <a:spcPct val="150000"/>
                        </a:lnSpc>
                        <a:buFont typeface="Arial" panose="020B0604020202020204" pitchFamily="34" charset="0"/>
                        <a:buChar char="•"/>
                      </a:pPr>
                      <a:r>
                        <a:rPr lang="en-US" sz="1200" dirty="0"/>
                        <a:t>Limited Model Generalization</a:t>
                      </a:r>
                    </a:p>
                    <a:p>
                      <a:pPr marL="285750" indent="-285750">
                        <a:lnSpc>
                          <a:spcPct val="150000"/>
                        </a:lnSpc>
                        <a:buFont typeface="Arial" panose="020B0604020202020204" pitchFamily="34" charset="0"/>
                        <a:buChar char="•"/>
                      </a:pPr>
                      <a:r>
                        <a:rPr lang="en-US" sz="1200" dirty="0"/>
                        <a:t>High Sensitivity to Noise and Bias</a:t>
                      </a:r>
                    </a:p>
                    <a:p>
                      <a:pPr>
                        <a:lnSpc>
                          <a:spcPct val="150000"/>
                        </a:lnSpc>
                      </a:pP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893530"/>
                  </a:ext>
                </a:extLst>
              </a:tr>
              <a:tr h="370840">
                <a:tc>
                  <a:txBody>
                    <a:bodyPr/>
                    <a:lstStyle/>
                    <a:p>
                      <a:pPr>
                        <a:lnSpc>
                          <a:spcPct val="150000"/>
                        </a:lnSpc>
                      </a:pPr>
                      <a:r>
                        <a:rPr lang="en-US" sz="1200" dirty="0"/>
                        <a:t>2</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CACTUS: A comprehensive abstraction and classification tool for uncovering structures</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200"/>
                        <a:t>L. Gherardini, V. R. Varma, K. Capała, R. Woods, and J. Sousa</a:t>
                      </a:r>
                      <a:r>
                        <a:rPr lang="en-IN" sz="1200"/>
                        <a:t>, 2024</a:t>
                      </a:r>
                      <a:endParaRPr lang="en-IN" sz="1200" dirty="0">
                        <a:latin typeface="Times New Roman" panose="02020603050405020304" pitchFamily="18" charset="0"/>
                        <a:cs typeface="Times New Roman" panose="02020603050405020304" pitchFamily="18" charset="0"/>
                      </a:endParaRPr>
                    </a:p>
                  </a:txBody>
                  <a:tcPr/>
                </a:tc>
                <a:tc>
                  <a:txBody>
                    <a:bodyPr/>
                    <a:lstStyle/>
                    <a:p>
                      <a:pPr marL="0" lvl="0" indent="0" algn="just">
                        <a:lnSpc>
                          <a:spcPct val="150000"/>
                        </a:lnSpc>
                        <a:buFont typeface="Symbol" panose="05050102010706020507" pitchFamily="18" charset="2"/>
                        <a:buNone/>
                      </a:pPr>
                      <a:r>
                        <a:rPr lang="en-IN" sz="1050" b="0" dirty="0">
                          <a:effectLst/>
                        </a:rPr>
                        <a:t>Attribute-Based Explainable Classification (CACTUS)</a:t>
                      </a:r>
                      <a:endParaRPr lang="en-IN" sz="1050" dirty="0">
                        <a:effectLst/>
                        <a:latin typeface="Times New Roman" panose="02020603050405020304" pitchFamily="18" charset="0"/>
                        <a:ea typeface="Times New Roman" panose="02020603050405020304" pitchFamily="18" charset="0"/>
                      </a:endParaRPr>
                    </a:p>
                  </a:txBody>
                  <a:tcPr/>
                </a:tc>
                <a:tc>
                  <a:txBody>
                    <a:bodyPr/>
                    <a:lstStyle/>
                    <a:p>
                      <a:pPr marL="342900" lvl="0" indent="-342900" algn="just">
                        <a:lnSpc>
                          <a:spcPct val="150000"/>
                        </a:lnSpc>
                        <a:buFont typeface="Symbol" panose="05050102010706020507" pitchFamily="18" charset="2"/>
                        <a:buChar char=""/>
                      </a:pPr>
                      <a:r>
                        <a:rPr lang="en-US" sz="1050" b="0" dirty="0">
                          <a:effectLst/>
                        </a:rPr>
                        <a:t>Strong </a:t>
                      </a:r>
                      <a:r>
                        <a:rPr lang="en-US" sz="1050" b="0" dirty="0" err="1">
                          <a:effectLst/>
                        </a:rPr>
                        <a:t>Explainability</a:t>
                      </a:r>
                      <a:r>
                        <a:rPr lang="en-US" sz="1050" b="0" dirty="0">
                          <a:effectLst/>
                        </a:rPr>
                        <a:t> and Transparency</a:t>
                      </a:r>
                    </a:p>
                    <a:p>
                      <a:pPr marL="342900" lvl="0" indent="-342900" algn="just">
                        <a:lnSpc>
                          <a:spcPct val="150000"/>
                        </a:lnSpc>
                        <a:buFont typeface="Symbol" panose="05050102010706020507" pitchFamily="18" charset="2"/>
                        <a:buChar char=""/>
                      </a:pPr>
                      <a:r>
                        <a:rPr lang="en-US" sz="1050" b="0" dirty="0">
                          <a:effectLst/>
                        </a:rPr>
                        <a:t>Effective Handling of Small and Categorical Datasets</a:t>
                      </a:r>
                    </a:p>
                    <a:p>
                      <a:pPr marL="342900" lvl="0" indent="-342900" algn="just">
                        <a:lnSpc>
                          <a:spcPct val="150000"/>
                        </a:lnSpc>
                        <a:buFont typeface="Symbol" panose="05050102010706020507" pitchFamily="18" charset="2"/>
                        <a:buChar char=""/>
                      </a:pPr>
                      <a:r>
                        <a:rPr lang="en-US" sz="1050" b="0" dirty="0">
                          <a:effectLst/>
                        </a:rPr>
                        <a:t>Efficient and Secure Analytics</a:t>
                      </a:r>
                      <a:endParaRPr lang="en-US" sz="1050" b="0" dirty="0">
                        <a:effectLst/>
                        <a:latin typeface="Times New Roman" panose="02020603050405020304" pitchFamily="18" charset="0"/>
                        <a:ea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Limited Suitability for Very Large-Scale Deep Learning Tasks</a:t>
                      </a:r>
                    </a:p>
                    <a:p>
                      <a:pPr marL="285750" indent="-285750">
                        <a:lnSpc>
                          <a:spcPct val="150000"/>
                        </a:lnSpc>
                        <a:buFont typeface="Arial" panose="020B0604020202020204" pitchFamily="34" charset="0"/>
                        <a:buChar char="•"/>
                      </a:pPr>
                      <a:r>
                        <a:rPr lang="en-US" sz="1200" dirty="0"/>
                        <a:t>Reduced Flexibility for Unstructured Data</a:t>
                      </a:r>
                    </a:p>
                    <a:p>
                      <a:pPr marL="285750" indent="-285750">
                        <a:lnSpc>
                          <a:spcPct val="150000"/>
                        </a:lnSpc>
                        <a:buFont typeface="Arial" panose="020B0604020202020204" pitchFamily="34" charset="0"/>
                        <a:buChar char="•"/>
                      </a:pPr>
                      <a:r>
                        <a:rPr lang="en-US" sz="1200" dirty="0"/>
                        <a:t>Potential Accuracy Ceiling Compared to Complex Models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17218"/>
                  </a:ext>
                </a:extLst>
              </a:tr>
              <a:tr h="370840">
                <a:tc>
                  <a:txBody>
                    <a:bodyPr/>
                    <a:lstStyle/>
                    <a:p>
                      <a:pPr marL="0" algn="l" defTabSz="914400" rtl="0" eaLnBrk="1" latinLnBrk="0" hangingPunct="1">
                        <a:lnSpc>
                          <a:spcPct val="150000"/>
                        </a:lnSpc>
                      </a:pPr>
                      <a:r>
                        <a:rPr lang="en-US" sz="1200" kern="1200" dirty="0">
                          <a:solidFill>
                            <a:schemeClr val="dk1"/>
                          </a:solidFill>
                        </a:rPr>
                        <a:t>3</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defTabSz="914400" rtl="0" eaLnBrk="1" latinLnBrk="0" hangingPunct="1">
                        <a:lnSpc>
                          <a:spcPct val="150000"/>
                        </a:lnSpc>
                      </a:pPr>
                      <a:r>
                        <a:rPr lang="en-US" sz="1200" kern="1200" dirty="0">
                          <a:solidFill>
                            <a:schemeClr val="dk1"/>
                          </a:solidFill>
                        </a:rPr>
                        <a:t>Learning from data with structured missingness</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algn="l" defTabSz="914400" rtl="0" eaLnBrk="1" latinLnBrk="0" hangingPunct="1">
                        <a:lnSpc>
                          <a:spcPct val="150000"/>
                        </a:lnSpc>
                      </a:pPr>
                      <a:r>
                        <a:rPr lang="en-IN" sz="1200" kern="1200" dirty="0">
                          <a:solidFill>
                            <a:schemeClr val="dk1"/>
                          </a:solidFill>
                        </a:rPr>
                        <a:t>R. Mitra et al., 2023</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l" defTabSz="914400" rtl="0" eaLnBrk="1" latinLnBrk="0" hangingPunct="1">
                        <a:lnSpc>
                          <a:spcPct val="150000"/>
                        </a:lnSpc>
                      </a:pPr>
                      <a:r>
                        <a:rPr lang="en-US" sz="1200" kern="1200" dirty="0">
                          <a:solidFill>
                            <a:schemeClr val="dk1"/>
                          </a:solidFill>
                        </a:rPr>
                        <a:t>Missingness-Aware Representation Learning</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Encodes Informative Data-Collection Processes</a:t>
                      </a:r>
                    </a:p>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Enables Discovery of Hidden Structure</a:t>
                      </a:r>
                    </a:p>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Improves Domain-Aware Modeling</a:t>
                      </a:r>
                      <a:endParaRPr lang="en-US"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Bias and Spurious Correlations</a:t>
                      </a:r>
                    </a:p>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Breakdown of Standard Missing-Data Assumptions</a:t>
                      </a:r>
                    </a:p>
                    <a:p>
                      <a:pPr mar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Reduced Scalability and Generalization</a:t>
                      </a:r>
                      <a:endParaRPr lang="en-US" sz="12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511636085"/>
                  </a:ext>
                </a:extLst>
              </a:tr>
            </a:tbl>
          </a:graphicData>
        </a:graphic>
      </p:graphicFrame>
      <p:sp>
        <p:nvSpPr>
          <p:cNvPr id="5" name="Title 1">
            <a:extLst>
              <a:ext uri="{FF2B5EF4-FFF2-40B4-BE49-F238E27FC236}">
                <a16:creationId xmlns:a16="http://schemas.microsoft.com/office/drawing/2014/main" id="{0389FF78-C08A-4C23-9672-8D7A6273F503}"/>
              </a:ext>
            </a:extLst>
          </p:cNvPr>
          <p:cNvSpPr txBox="1">
            <a:spLocks/>
          </p:cNvSpPr>
          <p:nvPr/>
        </p:nvSpPr>
        <p:spPr>
          <a:xfrm>
            <a:off x="312820" y="323385"/>
            <a:ext cx="11638773"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Garamond" panose="02020404030301010803" pitchFamily="18" charset="0"/>
                <a:cs typeface="Times New Roman" panose="02020603050405020304" pitchFamily="18" charset="0"/>
              </a:rPr>
              <a:t>Literature Survey</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43604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F352E9F-CEC7-4419-BF5F-E685F6F85561}"/>
              </a:ext>
            </a:extLst>
          </p:cNvPr>
          <p:cNvGraphicFramePr>
            <a:graphicFrameLocks noGrp="1"/>
          </p:cNvGraphicFramePr>
          <p:nvPr>
            <p:ph idx="1"/>
            <p:extLst>
              <p:ext uri="{D42A27DB-BD31-4B8C-83A1-F6EECF244321}">
                <p14:modId xmlns:p14="http://schemas.microsoft.com/office/powerpoint/2010/main" val="1583164468"/>
              </p:ext>
            </p:extLst>
          </p:nvPr>
        </p:nvGraphicFramePr>
        <p:xfrm>
          <a:off x="381000" y="412153"/>
          <a:ext cx="11531958" cy="6014406"/>
        </p:xfrm>
        <a:graphic>
          <a:graphicData uri="http://schemas.openxmlformats.org/drawingml/2006/table">
            <a:tbl>
              <a:tblPr firstRow="1" bandRow="1">
                <a:tableStyleId>{BDBED569-4797-4DF1-A0F4-6AAB3CD982D8}</a:tableStyleId>
              </a:tblPr>
              <a:tblGrid>
                <a:gridCol w="558390">
                  <a:extLst>
                    <a:ext uri="{9D8B030D-6E8A-4147-A177-3AD203B41FA5}">
                      <a16:colId xmlns:a16="http://schemas.microsoft.com/office/drawing/2014/main" val="1218731625"/>
                    </a:ext>
                  </a:extLst>
                </a:gridCol>
                <a:gridCol w="2240682">
                  <a:extLst>
                    <a:ext uri="{9D8B030D-6E8A-4147-A177-3AD203B41FA5}">
                      <a16:colId xmlns:a16="http://schemas.microsoft.com/office/drawing/2014/main" val="685500622"/>
                    </a:ext>
                  </a:extLst>
                </a:gridCol>
                <a:gridCol w="1598231">
                  <a:extLst>
                    <a:ext uri="{9D8B030D-6E8A-4147-A177-3AD203B41FA5}">
                      <a16:colId xmlns:a16="http://schemas.microsoft.com/office/drawing/2014/main" val="941719507"/>
                    </a:ext>
                  </a:extLst>
                </a:gridCol>
                <a:gridCol w="1585239">
                  <a:extLst>
                    <a:ext uri="{9D8B030D-6E8A-4147-A177-3AD203B41FA5}">
                      <a16:colId xmlns:a16="http://schemas.microsoft.com/office/drawing/2014/main" val="1685633207"/>
                    </a:ext>
                  </a:extLst>
                </a:gridCol>
                <a:gridCol w="2676714">
                  <a:extLst>
                    <a:ext uri="{9D8B030D-6E8A-4147-A177-3AD203B41FA5}">
                      <a16:colId xmlns:a16="http://schemas.microsoft.com/office/drawing/2014/main" val="602754111"/>
                    </a:ext>
                  </a:extLst>
                </a:gridCol>
                <a:gridCol w="2872702">
                  <a:extLst>
                    <a:ext uri="{9D8B030D-6E8A-4147-A177-3AD203B41FA5}">
                      <a16:colId xmlns:a16="http://schemas.microsoft.com/office/drawing/2014/main" val="51419147"/>
                    </a:ext>
                  </a:extLst>
                </a:gridCol>
              </a:tblGrid>
              <a:tr h="670527">
                <a:tc>
                  <a:txBody>
                    <a:bodyPr/>
                    <a:lstStyle/>
                    <a:p>
                      <a:pPr>
                        <a:lnSpc>
                          <a:spcPct val="150000"/>
                        </a:lnSpc>
                      </a:pPr>
                      <a:r>
                        <a:rPr lang="en-IN" sz="1200" dirty="0"/>
                        <a:t>S. No.</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Title of the Paper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Author &amp; Year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Methodology</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1673457"/>
                  </a:ext>
                </a:extLst>
              </a:tr>
              <a:tr h="1882272">
                <a:tc>
                  <a:txBody>
                    <a:bodyPr/>
                    <a:lstStyle/>
                    <a:p>
                      <a:pPr>
                        <a:lnSpc>
                          <a:spcPct val="150000"/>
                        </a:lnSpc>
                      </a:pPr>
                      <a:r>
                        <a:rPr lang="en-US" sz="1200" dirty="0"/>
                        <a:t>4</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Explainable AI lacks regulative reasons: Why AI and human decision-making are not equally opaque</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200" dirty="0"/>
                        <a:t>U. Peters 2023</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Human-in-the-Loop Decision Oversight</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Clarifies Limits of Current Explainable AI</a:t>
                      </a:r>
                    </a:p>
                    <a:p>
                      <a:pPr marL="285750" indent="-285750">
                        <a:lnSpc>
                          <a:spcPct val="150000"/>
                        </a:lnSpc>
                        <a:buFont typeface="Arial" panose="020B0604020202020204" pitchFamily="34" charset="0"/>
                        <a:buChar char="•"/>
                      </a:pPr>
                      <a:r>
                        <a:rPr lang="en-US" sz="1200" dirty="0"/>
                        <a:t>Strengthens Human–AI Comparison Frameworks</a:t>
                      </a:r>
                    </a:p>
                    <a:p>
                      <a:pPr marL="285750" indent="-285750">
                        <a:lnSpc>
                          <a:spcPct val="150000"/>
                        </a:lnSpc>
                        <a:buFont typeface="Arial" panose="020B0604020202020204" pitchFamily="34" charset="0"/>
                        <a:buChar char="•"/>
                      </a:pPr>
                      <a:r>
                        <a:rPr lang="en-US" sz="1200" dirty="0"/>
                        <a:t>Encourages More Responsible XAI Design</a:t>
                      </a:r>
                      <a:endParaRPr lang="en-US"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Absence of Self-Regulative Reason-Giving</a:t>
                      </a:r>
                    </a:p>
                    <a:p>
                      <a:pPr marL="285750" indent="-285750">
                        <a:lnSpc>
                          <a:spcPct val="150000"/>
                        </a:lnSpc>
                        <a:buFont typeface="Arial" panose="020B0604020202020204" pitchFamily="34" charset="0"/>
                        <a:buChar char="•"/>
                      </a:pPr>
                      <a:r>
                        <a:rPr lang="en-US" sz="1200" dirty="0"/>
                        <a:t>Risk of False Transparency</a:t>
                      </a:r>
                    </a:p>
                    <a:p>
                      <a:pPr marL="285750" indent="-285750">
                        <a:lnSpc>
                          <a:spcPct val="150000"/>
                        </a:lnSpc>
                        <a:buFont typeface="Arial" panose="020B0604020202020204" pitchFamily="34" charset="0"/>
                        <a:buChar char="•"/>
                      </a:pPr>
                      <a:r>
                        <a:rPr lang="en-US" sz="1200" dirty="0"/>
                        <a:t>Overreliance on Superficial Explanations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17218"/>
                  </a:ext>
                </a:extLst>
              </a:tr>
              <a:tr h="1579335">
                <a:tc>
                  <a:txBody>
                    <a:bodyPr/>
                    <a:lstStyle/>
                    <a:p>
                      <a:pPr>
                        <a:lnSpc>
                          <a:spcPct val="150000"/>
                        </a:lnSpc>
                      </a:pPr>
                      <a:r>
                        <a:rPr lang="en-US" sz="1200" dirty="0"/>
                        <a:t>5</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err="1"/>
                        <a:t>SaNDA</a:t>
                      </a:r>
                      <a:r>
                        <a:rPr lang="en-US" sz="1200" dirty="0"/>
                        <a:t>: A small and incomplete dataset </a:t>
                      </a:r>
                      <a:r>
                        <a:rPr lang="en-US" sz="1200" dirty="0" err="1"/>
                        <a:t>analyser</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200" dirty="0"/>
                        <a:t>A. </a:t>
                      </a:r>
                      <a:r>
                        <a:rPr lang="en-IN" sz="1200" dirty="0" err="1"/>
                        <a:t>Ibias</a:t>
                      </a:r>
                      <a:r>
                        <a:rPr lang="en-IN" sz="1200" dirty="0"/>
                        <a:t>, V. R. Varma, K. </a:t>
                      </a:r>
                      <a:r>
                        <a:rPr lang="en-IN" sz="1200" dirty="0" err="1"/>
                        <a:t>Capała</a:t>
                      </a:r>
                      <a:r>
                        <a:rPr lang="en-IN" sz="1200" dirty="0"/>
                        <a:t>, L. </a:t>
                      </a:r>
                      <a:r>
                        <a:rPr lang="en-IN" sz="1200" dirty="0" err="1"/>
                        <a:t>Gherardini</a:t>
                      </a:r>
                      <a:r>
                        <a:rPr lang="en-IN" sz="1200" dirty="0"/>
                        <a:t>, and J. Sousa, 2023</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err="1"/>
                        <a:t>Explainability</a:t>
                      </a:r>
                      <a:r>
                        <a:rPr lang="en-US" sz="1200" dirty="0"/>
                        <a:t>-First Ensemble Analysis (</a:t>
                      </a:r>
                      <a:r>
                        <a:rPr lang="en-US" sz="1200" dirty="0" err="1"/>
                        <a:t>SaNDA</a:t>
                      </a:r>
                      <a:r>
                        <a:rPr lang="en-US" sz="1200" dirty="0"/>
                        <a:t>)</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marL="285750" indent="-285750">
                        <a:lnSpc>
                          <a:spcPct val="150000"/>
                        </a:lnSpc>
                        <a:buFont typeface="Arial" panose="020B0604020202020204" pitchFamily="34" charset="0"/>
                        <a:buChar char="•"/>
                      </a:pPr>
                      <a:r>
                        <a:rPr lang="en-US" sz="1200" dirty="0"/>
                        <a:t>Robust to Small and Incomplete Datasets</a:t>
                      </a:r>
                    </a:p>
                    <a:p>
                      <a:pPr marL="285750" indent="-285750">
                        <a:lnSpc>
                          <a:spcPct val="150000"/>
                        </a:lnSpc>
                        <a:buFont typeface="Arial" panose="020B0604020202020204" pitchFamily="34" charset="0"/>
                        <a:buChar char="•"/>
                      </a:pPr>
                      <a:r>
                        <a:rPr lang="en-US" sz="1200" dirty="0"/>
                        <a:t>Built-in </a:t>
                      </a:r>
                      <a:r>
                        <a:rPr lang="en-US" sz="1200" dirty="0" err="1"/>
                        <a:t>Explainability</a:t>
                      </a:r>
                      <a:r>
                        <a:rPr lang="en-US" sz="1200" dirty="0"/>
                        <a:t> for Clinical Use</a:t>
                      </a:r>
                    </a:p>
                    <a:p>
                      <a:pPr marL="285750" indent="-285750">
                        <a:lnSpc>
                          <a:spcPct val="150000"/>
                        </a:lnSpc>
                        <a:buFont typeface="Arial" panose="020B0604020202020204" pitchFamily="34" charset="0"/>
                        <a:buChar char="•"/>
                      </a:pPr>
                      <a:r>
                        <a:rPr lang="en-US" sz="1200" dirty="0"/>
                        <a:t>Enhanced Privacy Preservation</a:t>
                      </a:r>
                      <a:endParaRPr lang="en-US"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Limited Performance on Large, Well-Curated Datasets</a:t>
                      </a:r>
                    </a:p>
                    <a:p>
                      <a:pPr marL="285750" indent="-285750">
                        <a:lnSpc>
                          <a:spcPct val="150000"/>
                        </a:lnSpc>
                        <a:buFont typeface="Arial" panose="020B0604020202020204" pitchFamily="34" charset="0"/>
                        <a:buChar char="•"/>
                      </a:pPr>
                      <a:r>
                        <a:rPr lang="en-US" sz="1200" dirty="0"/>
                        <a:t>Lower Computational Efficiency</a:t>
                      </a:r>
                    </a:p>
                    <a:p>
                      <a:pPr marL="285750" indent="-285750">
                        <a:lnSpc>
                          <a:spcPct val="150000"/>
                        </a:lnSpc>
                        <a:buFont typeface="Arial" panose="020B0604020202020204" pitchFamily="34" charset="0"/>
                        <a:buChar char="•"/>
                      </a:pPr>
                      <a:r>
                        <a:rPr lang="en-US" sz="1200" dirty="0"/>
                        <a:t>Domain-Specific Applicability</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1636085"/>
                  </a:ext>
                </a:extLst>
              </a:tr>
              <a:tr h="1882272">
                <a:tc>
                  <a:txBody>
                    <a:bodyPr/>
                    <a:lstStyle/>
                    <a:p>
                      <a:pPr>
                        <a:lnSpc>
                          <a:spcPct val="150000"/>
                        </a:lnSpc>
                      </a:pPr>
                      <a:r>
                        <a:rPr lang="en-US" sz="1200" dirty="0"/>
                        <a:t>6</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On evaluation metrics for medical applications of artificial intelligence</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200" dirty="0"/>
                        <a:t>S. Hicks, I. </a:t>
                      </a:r>
                      <a:r>
                        <a:rPr lang="en-US" sz="1200" dirty="0" err="1"/>
                        <a:t>Strümke</a:t>
                      </a:r>
                      <a:r>
                        <a:rPr lang="en-US" sz="1200" dirty="0"/>
                        <a:t>, and V. E. A. </a:t>
                      </a:r>
                      <a:r>
                        <a:rPr lang="en-US" sz="1200" dirty="0" err="1"/>
                        <a:t>Thambawita</a:t>
                      </a:r>
                      <a:r>
                        <a:rPr lang="en-US" sz="1200" dirty="0"/>
                        <a:t>, 2022</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Multi-Metric Evaluation for Medical AI</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lvl="0" indent="-285750" algn="l" defTabSz="914400" rtl="0" eaLnBrk="1" latinLnBrk="0" hangingPunct="1">
                        <a:lnSpc>
                          <a:spcPct val="150000"/>
                        </a:lnSpc>
                        <a:buFont typeface="Arial" panose="020B0604020202020204" pitchFamily="34" charset="0"/>
                        <a:buChar char="•"/>
                      </a:pPr>
                      <a:r>
                        <a:rPr lang="en-IN" sz="1200" kern="1200" dirty="0">
                          <a:solidFill>
                            <a:schemeClr val="dk1"/>
                          </a:solidFill>
                        </a:rPr>
                        <a:t>Provides Comprehensive Performance Evaluation</a:t>
                      </a:r>
                    </a:p>
                    <a:p>
                      <a:pPr marL="285750" lvl="0" indent="-285750" algn="l" defTabSz="914400" rtl="0" eaLnBrk="1" latinLnBrk="0" hangingPunct="1">
                        <a:lnSpc>
                          <a:spcPct val="150000"/>
                        </a:lnSpc>
                        <a:buFont typeface="Arial" panose="020B0604020202020204" pitchFamily="34" charset="0"/>
                        <a:buChar char="•"/>
                      </a:pPr>
                      <a:r>
                        <a:rPr lang="en-IN" sz="1200" kern="1200" dirty="0">
                          <a:solidFill>
                            <a:schemeClr val="dk1"/>
                          </a:solidFill>
                        </a:rPr>
                        <a:t>Facilitates Clinician Understanding of ML Models</a:t>
                      </a:r>
                    </a:p>
                    <a:p>
                      <a:pPr marL="285750" lvl="0" indent="-285750" algn="l" defTabSz="914400" rtl="0" eaLnBrk="1" latinLnBrk="0" hangingPunct="1">
                        <a:lnSpc>
                          <a:spcPct val="150000"/>
                        </a:lnSpc>
                        <a:buFont typeface="Arial" panose="020B0604020202020204" pitchFamily="34" charset="0"/>
                        <a:buChar char="•"/>
                      </a:pPr>
                      <a:r>
                        <a:rPr lang="en-IN" sz="1200" kern="1200" dirty="0">
                          <a:solidFill>
                            <a:schemeClr val="dk1"/>
                          </a:solidFill>
                        </a:rPr>
                        <a:t>Supports Standardized Reporting via Web-Based Tool</a:t>
                      </a:r>
                      <a:endParaRPr lang="en-IN"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Complexity of Metrics for Non-Technical Users</a:t>
                      </a:r>
                    </a:p>
                    <a:p>
                      <a:pPr marL="285750" indent="-285750">
                        <a:lnSpc>
                          <a:spcPct val="150000"/>
                        </a:lnSpc>
                        <a:buFont typeface="Arial" panose="020B0604020202020204" pitchFamily="34" charset="0"/>
                        <a:buChar char="•"/>
                      </a:pPr>
                      <a:r>
                        <a:rPr lang="en-US" sz="1200" dirty="0"/>
                        <a:t>Difficult Cross-Study Comparisons</a:t>
                      </a:r>
                    </a:p>
                    <a:p>
                      <a:pPr marL="285750" indent="-285750">
                        <a:lnSpc>
                          <a:spcPct val="150000"/>
                        </a:lnSpc>
                        <a:buFont typeface="Arial" panose="020B0604020202020204" pitchFamily="34" charset="0"/>
                        <a:buChar char="•"/>
                      </a:pPr>
                      <a:r>
                        <a:rPr lang="en-US" sz="1200" dirty="0"/>
                        <a:t>No Single Metric Fully Captures Model Performance</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8186785"/>
                  </a:ext>
                </a:extLst>
              </a:tr>
            </a:tbl>
          </a:graphicData>
        </a:graphic>
      </p:graphicFrame>
    </p:spTree>
    <p:extLst>
      <p:ext uri="{BB962C8B-B14F-4D97-AF65-F5344CB8AC3E}">
        <p14:creationId xmlns:p14="http://schemas.microsoft.com/office/powerpoint/2010/main" val="2492873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F352E9F-CEC7-4419-BF5F-E685F6F85561}"/>
              </a:ext>
            </a:extLst>
          </p:cNvPr>
          <p:cNvGraphicFramePr>
            <a:graphicFrameLocks noGrp="1"/>
          </p:cNvGraphicFramePr>
          <p:nvPr>
            <p:ph idx="1"/>
            <p:extLst>
              <p:ext uri="{D42A27DB-BD31-4B8C-83A1-F6EECF244321}">
                <p14:modId xmlns:p14="http://schemas.microsoft.com/office/powerpoint/2010/main" val="2629596690"/>
              </p:ext>
            </p:extLst>
          </p:nvPr>
        </p:nvGraphicFramePr>
        <p:xfrm>
          <a:off x="330021" y="222071"/>
          <a:ext cx="11531958" cy="6417478"/>
        </p:xfrm>
        <a:graphic>
          <a:graphicData uri="http://schemas.openxmlformats.org/drawingml/2006/table">
            <a:tbl>
              <a:tblPr firstRow="1" bandRow="1">
                <a:tableStyleId>{BDBED569-4797-4DF1-A0F4-6AAB3CD982D8}</a:tableStyleId>
              </a:tblPr>
              <a:tblGrid>
                <a:gridCol w="558390">
                  <a:extLst>
                    <a:ext uri="{9D8B030D-6E8A-4147-A177-3AD203B41FA5}">
                      <a16:colId xmlns:a16="http://schemas.microsoft.com/office/drawing/2014/main" val="1218731625"/>
                    </a:ext>
                  </a:extLst>
                </a:gridCol>
                <a:gridCol w="2240682">
                  <a:extLst>
                    <a:ext uri="{9D8B030D-6E8A-4147-A177-3AD203B41FA5}">
                      <a16:colId xmlns:a16="http://schemas.microsoft.com/office/drawing/2014/main" val="685500622"/>
                    </a:ext>
                  </a:extLst>
                </a:gridCol>
                <a:gridCol w="1598231">
                  <a:extLst>
                    <a:ext uri="{9D8B030D-6E8A-4147-A177-3AD203B41FA5}">
                      <a16:colId xmlns:a16="http://schemas.microsoft.com/office/drawing/2014/main" val="941719507"/>
                    </a:ext>
                  </a:extLst>
                </a:gridCol>
                <a:gridCol w="1585239">
                  <a:extLst>
                    <a:ext uri="{9D8B030D-6E8A-4147-A177-3AD203B41FA5}">
                      <a16:colId xmlns:a16="http://schemas.microsoft.com/office/drawing/2014/main" val="1685633207"/>
                    </a:ext>
                  </a:extLst>
                </a:gridCol>
                <a:gridCol w="2676714">
                  <a:extLst>
                    <a:ext uri="{9D8B030D-6E8A-4147-A177-3AD203B41FA5}">
                      <a16:colId xmlns:a16="http://schemas.microsoft.com/office/drawing/2014/main" val="602754111"/>
                    </a:ext>
                  </a:extLst>
                </a:gridCol>
                <a:gridCol w="2872702">
                  <a:extLst>
                    <a:ext uri="{9D8B030D-6E8A-4147-A177-3AD203B41FA5}">
                      <a16:colId xmlns:a16="http://schemas.microsoft.com/office/drawing/2014/main" val="51419147"/>
                    </a:ext>
                  </a:extLst>
                </a:gridCol>
              </a:tblGrid>
              <a:tr h="670527">
                <a:tc>
                  <a:txBody>
                    <a:bodyPr/>
                    <a:lstStyle/>
                    <a:p>
                      <a:pPr>
                        <a:lnSpc>
                          <a:spcPct val="150000"/>
                        </a:lnSpc>
                      </a:pPr>
                      <a:r>
                        <a:rPr lang="en-IN" sz="1200" dirty="0"/>
                        <a:t>S. No.</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Title of the Paper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Author &amp; Year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Methodology</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1673457"/>
                  </a:ext>
                </a:extLst>
              </a:tr>
              <a:tr h="1882272">
                <a:tc>
                  <a:txBody>
                    <a:bodyPr/>
                    <a:lstStyle/>
                    <a:p>
                      <a:pPr>
                        <a:lnSpc>
                          <a:spcPct val="150000"/>
                        </a:lnSpc>
                      </a:pPr>
                      <a:r>
                        <a:rPr lang="en-US" sz="1200" dirty="0"/>
                        <a:t>7</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Why do tree-based models still outperform deep learning on typical tabular data</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200" dirty="0"/>
                        <a:t>L. </a:t>
                      </a:r>
                      <a:r>
                        <a:rPr lang="en-IN" sz="1200" dirty="0" err="1"/>
                        <a:t>Grinsztajn</a:t>
                      </a:r>
                      <a:r>
                        <a:rPr lang="en-IN" sz="1200" dirty="0"/>
                        <a:t>, E. </a:t>
                      </a:r>
                      <a:r>
                        <a:rPr lang="en-IN" sz="1200" dirty="0" err="1"/>
                        <a:t>Oyallon</a:t>
                      </a:r>
                      <a:r>
                        <a:rPr lang="en-IN" sz="1200" dirty="0"/>
                        <a:t>, and G. </a:t>
                      </a:r>
                      <a:r>
                        <a:rPr lang="en-IN" sz="1200" dirty="0" err="1"/>
                        <a:t>Varoquaux</a:t>
                      </a:r>
                      <a:r>
                        <a:rPr lang="en-IN" sz="1200" dirty="0"/>
                        <a:t>, 2022</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Tree-Based Ensemble Models (</a:t>
                      </a:r>
                      <a:r>
                        <a:rPr lang="en-US" sz="1200" dirty="0" err="1"/>
                        <a:t>XGBoost</a:t>
                      </a:r>
                      <a:r>
                        <a:rPr lang="en-US" sz="1200" dirty="0"/>
                        <a:t> / Random Forests)</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Tree-Based Models Excel in Medium-Sized Tabular Data</a:t>
                      </a:r>
                    </a:p>
                    <a:p>
                      <a:pPr marL="285750" indent="-285750">
                        <a:lnSpc>
                          <a:spcPct val="150000"/>
                        </a:lnSpc>
                        <a:buFont typeface="Arial" panose="020B0604020202020204" pitchFamily="34" charset="0"/>
                        <a:buChar char="•"/>
                      </a:pPr>
                      <a:r>
                        <a:rPr lang="en-US" sz="1200" dirty="0"/>
                        <a:t>Faster Training and Hyperparameter Optimization</a:t>
                      </a:r>
                    </a:p>
                    <a:p>
                      <a:pPr marL="285750" indent="-285750">
                        <a:lnSpc>
                          <a:spcPct val="150000"/>
                        </a:lnSpc>
                        <a:buFont typeface="Arial" panose="020B0604020202020204" pitchFamily="34" charset="0"/>
                        <a:buChar char="•"/>
                      </a:pPr>
                      <a:r>
                        <a:rPr lang="en-US" sz="1200" dirty="0"/>
                        <a:t>Robust Interpretability via Feature Importance</a:t>
                      </a:r>
                      <a:endParaRPr lang="en-US"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Deep Learning Struggles on Tabular Data</a:t>
                      </a:r>
                    </a:p>
                    <a:p>
                      <a:pPr marL="285750" indent="-285750">
                        <a:lnSpc>
                          <a:spcPct val="150000"/>
                        </a:lnSpc>
                        <a:buFont typeface="Arial" panose="020B0604020202020204" pitchFamily="34" charset="0"/>
                        <a:buChar char="•"/>
                      </a:pPr>
                      <a:r>
                        <a:rPr lang="en-US" sz="1200" dirty="0"/>
                        <a:t>Sensitivity to Uninformative Features</a:t>
                      </a:r>
                    </a:p>
                    <a:p>
                      <a:pPr marL="285750" indent="-285750">
                        <a:lnSpc>
                          <a:spcPct val="150000"/>
                        </a:lnSpc>
                        <a:buFont typeface="Arial" panose="020B0604020202020204" pitchFamily="34" charset="0"/>
                        <a:buChar char="•"/>
                      </a:pPr>
                      <a:r>
                        <a:rPr lang="en-US" sz="1200" dirty="0"/>
                        <a:t>Difficulty Learning Irregular Functions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17218"/>
                  </a:ext>
                </a:extLst>
              </a:tr>
              <a:tr h="1579335">
                <a:tc>
                  <a:txBody>
                    <a:bodyPr/>
                    <a:lstStyle/>
                    <a:p>
                      <a:pPr>
                        <a:lnSpc>
                          <a:spcPct val="150000"/>
                        </a:lnSpc>
                      </a:pPr>
                      <a:r>
                        <a:rPr lang="en-US" sz="1200" dirty="0"/>
                        <a:t>8</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Machine learning models outperform deep learning models, provide interpretation and facilitate feature selection for soybean trait prediction</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IN" sz="1200" dirty="0"/>
                        <a:t>M. Gill, R. Anderson, and H. E. A. Hu, 2022,</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err="1"/>
                        <a:t>XGBoost</a:t>
                      </a:r>
                      <a:r>
                        <a:rPr lang="en-US" sz="1200" dirty="0"/>
                        <a:t> for Trait Prediction</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marL="285750" indent="-285750">
                        <a:lnSpc>
                          <a:spcPct val="150000"/>
                        </a:lnSpc>
                        <a:buFont typeface="Arial" panose="020B0604020202020204" pitchFamily="34" charset="0"/>
                        <a:buChar char="•"/>
                      </a:pPr>
                      <a:r>
                        <a:rPr lang="en-US" sz="1200" dirty="0"/>
                        <a:t>Higher Prediction Accuracy than Deep Learning in Small-to-Medium Data</a:t>
                      </a:r>
                    </a:p>
                    <a:p>
                      <a:pPr marL="285750" indent="-285750">
                        <a:lnSpc>
                          <a:spcPct val="150000"/>
                        </a:lnSpc>
                        <a:buFont typeface="Arial" panose="020B0604020202020204" pitchFamily="34" charset="0"/>
                        <a:buChar char="•"/>
                      </a:pPr>
                      <a:r>
                        <a:rPr lang="en-US" sz="1200" dirty="0"/>
                        <a:t>Facilitates Feature Selection and Dimensionality Reduction</a:t>
                      </a:r>
                    </a:p>
                    <a:p>
                      <a:pPr marL="285750" indent="-285750">
                        <a:lnSpc>
                          <a:spcPct val="150000"/>
                        </a:lnSpc>
                        <a:buFont typeface="Arial" panose="020B0604020202020204" pitchFamily="34" charset="0"/>
                        <a:buChar char="•"/>
                      </a:pPr>
                      <a:r>
                        <a:rPr lang="en-US" sz="1200" dirty="0"/>
                        <a:t>Provides Interpretability and Biological Insight</a:t>
                      </a:r>
                      <a:endParaRPr lang="en-US"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Limited Scalability for Extremely Large Genomic Datasets</a:t>
                      </a:r>
                    </a:p>
                    <a:p>
                      <a:pPr marL="285750" indent="-285750">
                        <a:lnSpc>
                          <a:spcPct val="150000"/>
                        </a:lnSpc>
                        <a:buFont typeface="Arial" panose="020B0604020202020204" pitchFamily="34" charset="0"/>
                        <a:buChar char="•"/>
                      </a:pPr>
                      <a:r>
                        <a:rPr lang="en-US" sz="1200" dirty="0"/>
                        <a:t>Less Powerful for Unstructured Data (e.g., Images)</a:t>
                      </a:r>
                    </a:p>
                    <a:p>
                      <a:pPr marL="285750" indent="-285750">
                        <a:lnSpc>
                          <a:spcPct val="150000"/>
                        </a:lnSpc>
                        <a:buFont typeface="Arial" panose="020B0604020202020204" pitchFamily="34" charset="0"/>
                        <a:buChar char="•"/>
                      </a:pPr>
                      <a:r>
                        <a:rPr lang="en-US" sz="1200" dirty="0"/>
                        <a:t>May Require Careful Feature Engineering</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1636085"/>
                  </a:ext>
                </a:extLst>
              </a:tr>
              <a:tr h="1882272">
                <a:tc>
                  <a:txBody>
                    <a:bodyPr/>
                    <a:lstStyle/>
                    <a:p>
                      <a:pPr>
                        <a:lnSpc>
                          <a:spcPct val="150000"/>
                        </a:lnSpc>
                      </a:pPr>
                      <a:r>
                        <a:rPr lang="en-US" sz="1200" dirty="0"/>
                        <a:t>9</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Principles and practice of explainable machine learning</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it-IT" sz="1200" dirty="0"/>
                        <a:t>V. Bella and I. Papantonis, ,2021</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SHAP (</a:t>
                      </a:r>
                      <a:r>
                        <a:rPr lang="en-US" sz="1200" dirty="0" err="1"/>
                        <a:t>SHapley</a:t>
                      </a:r>
                      <a:r>
                        <a:rPr lang="en-US" sz="1200" dirty="0"/>
                        <a:t> Additive </a:t>
                      </a:r>
                      <a:r>
                        <a:rPr lang="en-US" sz="1200" dirty="0" err="1"/>
                        <a:t>exPlanations</a:t>
                      </a:r>
                      <a:r>
                        <a:rPr lang="en-US" sz="1200" dirty="0"/>
                        <a:t>)</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lv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Enhances Trust and Accountability in AI Systems</a:t>
                      </a:r>
                    </a:p>
                    <a:p>
                      <a:pPr marL="285750" lv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Provides Structured Guidance for Practitioners</a:t>
                      </a:r>
                    </a:p>
                    <a:p>
                      <a:pPr marL="285750" lvl="0" indent="-285750" algn="l" defTabSz="914400" rtl="0" eaLnBrk="1" latinLnBrk="0" hangingPunct="1">
                        <a:lnSpc>
                          <a:spcPct val="150000"/>
                        </a:lnSpc>
                        <a:buFont typeface="Arial" panose="020B0604020202020204" pitchFamily="34" charset="0"/>
                        <a:buChar char="•"/>
                      </a:pPr>
                      <a:r>
                        <a:rPr lang="en-US" sz="1200" kern="1200" dirty="0">
                          <a:solidFill>
                            <a:schemeClr val="dk1"/>
                          </a:solidFill>
                        </a:rPr>
                        <a:t>Supports Both Model-Specific and Model-Agnostic </a:t>
                      </a:r>
                      <a:r>
                        <a:rPr lang="en-US" sz="1200" kern="1200" dirty="0" err="1">
                          <a:solidFill>
                            <a:schemeClr val="dk1"/>
                          </a:solidFill>
                        </a:rPr>
                        <a:t>Explainability</a:t>
                      </a:r>
                      <a:endParaRPr lang="en-US" sz="12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Complexity of Modern ML Models Limits Interpretability</a:t>
                      </a:r>
                    </a:p>
                    <a:p>
                      <a:pPr marL="285750" indent="-285750">
                        <a:lnSpc>
                          <a:spcPct val="150000"/>
                        </a:lnSpc>
                        <a:buFont typeface="Arial" panose="020B0604020202020204" pitchFamily="34" charset="0"/>
                        <a:buChar char="•"/>
                      </a:pPr>
                      <a:r>
                        <a:rPr lang="en-US" sz="1200" dirty="0"/>
                        <a:t>Risk of Misuse or Misunderstanding of </a:t>
                      </a:r>
                      <a:r>
                        <a:rPr lang="en-US" sz="1200" dirty="0" err="1"/>
                        <a:t>Explainability</a:t>
                      </a:r>
                      <a:r>
                        <a:rPr lang="en-US" sz="1200" dirty="0"/>
                        <a:t> Tools</a:t>
                      </a:r>
                    </a:p>
                    <a:p>
                      <a:pPr marL="285750" indent="-285750">
                        <a:lnSpc>
                          <a:spcPct val="150000"/>
                        </a:lnSpc>
                        <a:buFont typeface="Arial" panose="020B0604020202020204" pitchFamily="34" charset="0"/>
                        <a:buChar char="•"/>
                      </a:pPr>
                      <a:r>
                        <a:rPr lang="en-US" sz="1200" dirty="0"/>
                        <a:t>Data-Specific Biases Can Mislead Explanations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8186785"/>
                  </a:ext>
                </a:extLst>
              </a:tr>
            </a:tbl>
          </a:graphicData>
        </a:graphic>
      </p:graphicFrame>
    </p:spTree>
    <p:extLst>
      <p:ext uri="{BB962C8B-B14F-4D97-AF65-F5344CB8AC3E}">
        <p14:creationId xmlns:p14="http://schemas.microsoft.com/office/powerpoint/2010/main" val="779074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F352E9F-CEC7-4419-BF5F-E685F6F85561}"/>
              </a:ext>
            </a:extLst>
          </p:cNvPr>
          <p:cNvGraphicFramePr>
            <a:graphicFrameLocks noGrp="1"/>
          </p:cNvGraphicFramePr>
          <p:nvPr>
            <p:ph idx="1"/>
            <p:extLst>
              <p:ext uri="{D42A27DB-BD31-4B8C-83A1-F6EECF244321}">
                <p14:modId xmlns:p14="http://schemas.microsoft.com/office/powerpoint/2010/main" val="2521706702"/>
              </p:ext>
            </p:extLst>
          </p:nvPr>
        </p:nvGraphicFramePr>
        <p:xfrm>
          <a:off x="330021" y="595558"/>
          <a:ext cx="11531958" cy="2552799"/>
        </p:xfrm>
        <a:graphic>
          <a:graphicData uri="http://schemas.openxmlformats.org/drawingml/2006/table">
            <a:tbl>
              <a:tblPr firstRow="1" bandRow="1">
                <a:tableStyleId>{BDBED569-4797-4DF1-A0F4-6AAB3CD982D8}</a:tableStyleId>
              </a:tblPr>
              <a:tblGrid>
                <a:gridCol w="558390">
                  <a:extLst>
                    <a:ext uri="{9D8B030D-6E8A-4147-A177-3AD203B41FA5}">
                      <a16:colId xmlns:a16="http://schemas.microsoft.com/office/drawing/2014/main" val="1218731625"/>
                    </a:ext>
                  </a:extLst>
                </a:gridCol>
                <a:gridCol w="2240682">
                  <a:extLst>
                    <a:ext uri="{9D8B030D-6E8A-4147-A177-3AD203B41FA5}">
                      <a16:colId xmlns:a16="http://schemas.microsoft.com/office/drawing/2014/main" val="685500622"/>
                    </a:ext>
                  </a:extLst>
                </a:gridCol>
                <a:gridCol w="1598231">
                  <a:extLst>
                    <a:ext uri="{9D8B030D-6E8A-4147-A177-3AD203B41FA5}">
                      <a16:colId xmlns:a16="http://schemas.microsoft.com/office/drawing/2014/main" val="941719507"/>
                    </a:ext>
                  </a:extLst>
                </a:gridCol>
                <a:gridCol w="1585239">
                  <a:extLst>
                    <a:ext uri="{9D8B030D-6E8A-4147-A177-3AD203B41FA5}">
                      <a16:colId xmlns:a16="http://schemas.microsoft.com/office/drawing/2014/main" val="1685633207"/>
                    </a:ext>
                  </a:extLst>
                </a:gridCol>
                <a:gridCol w="2676714">
                  <a:extLst>
                    <a:ext uri="{9D8B030D-6E8A-4147-A177-3AD203B41FA5}">
                      <a16:colId xmlns:a16="http://schemas.microsoft.com/office/drawing/2014/main" val="602754111"/>
                    </a:ext>
                  </a:extLst>
                </a:gridCol>
                <a:gridCol w="2872702">
                  <a:extLst>
                    <a:ext uri="{9D8B030D-6E8A-4147-A177-3AD203B41FA5}">
                      <a16:colId xmlns:a16="http://schemas.microsoft.com/office/drawing/2014/main" val="51419147"/>
                    </a:ext>
                  </a:extLst>
                </a:gridCol>
              </a:tblGrid>
              <a:tr h="670527">
                <a:tc>
                  <a:txBody>
                    <a:bodyPr/>
                    <a:lstStyle/>
                    <a:p>
                      <a:pPr>
                        <a:lnSpc>
                          <a:spcPct val="150000"/>
                        </a:lnSpc>
                      </a:pPr>
                      <a:r>
                        <a:rPr lang="en-IN" sz="1200" dirty="0"/>
                        <a:t>S. No.</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Title of the Paper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Author &amp; Year</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Methodology</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Advantages</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IN" sz="1200" dirty="0"/>
                        <a:t>Disadvantages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1673457"/>
                  </a:ext>
                </a:extLst>
              </a:tr>
              <a:tr h="1882272">
                <a:tc>
                  <a:txBody>
                    <a:bodyPr/>
                    <a:lstStyle/>
                    <a:p>
                      <a:pPr>
                        <a:lnSpc>
                          <a:spcPct val="150000"/>
                        </a:lnSpc>
                      </a:pPr>
                      <a:r>
                        <a:rPr lang="en-US" sz="1200" dirty="0"/>
                        <a:t>10</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Interpretability and </a:t>
                      </a:r>
                      <a:r>
                        <a:rPr lang="en-US" sz="1200" dirty="0" err="1"/>
                        <a:t>explainability</a:t>
                      </a:r>
                      <a:r>
                        <a:rPr lang="en-US" sz="1200" dirty="0"/>
                        <a:t>: A machine learning zoo mini-tour</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lnSpc>
                          <a:spcPct val="150000"/>
                        </a:lnSpc>
                      </a:pPr>
                      <a:r>
                        <a:rPr lang="en-US" sz="1200" dirty="0"/>
                        <a:t>R. </a:t>
                      </a:r>
                      <a:r>
                        <a:rPr lang="en-US" sz="1200" dirty="0" err="1"/>
                        <a:t>Marcinkeviˇcs</a:t>
                      </a:r>
                      <a:r>
                        <a:rPr lang="en-US" sz="1200" dirty="0"/>
                        <a:t> and J. E. Vogt, 2020</a:t>
                      </a:r>
                      <a:endParaRPr lang="en-IN" sz="1200" dirty="0">
                        <a:latin typeface="Times New Roman" panose="02020603050405020304" pitchFamily="18" charset="0"/>
                        <a:cs typeface="Times New Roman" panose="02020603050405020304" pitchFamily="18" charset="0"/>
                      </a:endParaRPr>
                    </a:p>
                  </a:txBody>
                  <a:tcPr/>
                </a:tc>
                <a:tc>
                  <a:txBody>
                    <a:bodyPr/>
                    <a:lstStyle/>
                    <a:p>
                      <a:pPr>
                        <a:lnSpc>
                          <a:spcPct val="150000"/>
                        </a:lnSpc>
                      </a:pPr>
                      <a:r>
                        <a:rPr lang="en-US" sz="1200" dirty="0"/>
                        <a:t>Post-hoc </a:t>
                      </a:r>
                      <a:r>
                        <a:rPr lang="en-US" sz="1200" dirty="0" err="1"/>
                        <a:t>Explainability</a:t>
                      </a:r>
                      <a:r>
                        <a:rPr lang="en-US" sz="1200" dirty="0"/>
                        <a:t> Methods</a:t>
                      </a:r>
                      <a:endParaRPr lang="en-IN"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Increased Trust and Transparency</a:t>
                      </a:r>
                    </a:p>
                    <a:p>
                      <a:pPr marL="285750" indent="-285750">
                        <a:lnSpc>
                          <a:spcPct val="150000"/>
                        </a:lnSpc>
                        <a:buFont typeface="Arial" panose="020B0604020202020204" pitchFamily="34" charset="0"/>
                        <a:buChar char="•"/>
                      </a:pPr>
                      <a:r>
                        <a:rPr lang="en-US" sz="1200" dirty="0"/>
                        <a:t>Better Model Debugging and Validation</a:t>
                      </a:r>
                    </a:p>
                    <a:p>
                      <a:pPr marL="285750" indent="-285750">
                        <a:lnSpc>
                          <a:spcPct val="150000"/>
                        </a:lnSpc>
                        <a:buFont typeface="Arial" panose="020B0604020202020204" pitchFamily="34" charset="0"/>
                        <a:buChar char="•"/>
                      </a:pPr>
                      <a:r>
                        <a:rPr lang="en-US" sz="1200" dirty="0"/>
                        <a:t>Regulatory and Ethical Compliance</a:t>
                      </a:r>
                      <a:endParaRPr lang="en-US" sz="1200" dirty="0">
                        <a:latin typeface="Times New Roman" panose="02020603050405020304" pitchFamily="18" charset="0"/>
                        <a:cs typeface="Times New Roman" panose="02020603050405020304" pitchFamily="18" charset="0"/>
                      </a:endParaRPr>
                    </a:p>
                  </a:txBody>
                  <a:tcPr/>
                </a:tc>
                <a:tc>
                  <a:txBody>
                    <a:bodyPr/>
                    <a:lstStyle/>
                    <a:p>
                      <a:pPr marL="285750" indent="-285750">
                        <a:lnSpc>
                          <a:spcPct val="150000"/>
                        </a:lnSpc>
                        <a:buFont typeface="Arial" panose="020B0604020202020204" pitchFamily="34" charset="0"/>
                        <a:buChar char="•"/>
                      </a:pPr>
                      <a:r>
                        <a:rPr lang="en-US" sz="1200" dirty="0"/>
                        <a:t>Lack of Unified Definitions</a:t>
                      </a:r>
                    </a:p>
                    <a:p>
                      <a:pPr marL="285750" indent="-285750">
                        <a:lnSpc>
                          <a:spcPct val="150000"/>
                        </a:lnSpc>
                        <a:buFont typeface="Arial" panose="020B0604020202020204" pitchFamily="34" charset="0"/>
                        <a:buChar char="•"/>
                      </a:pPr>
                      <a:r>
                        <a:rPr lang="en-US" sz="1200" dirty="0"/>
                        <a:t>Trade-off Between Accuracy and Interpretability</a:t>
                      </a:r>
                    </a:p>
                    <a:p>
                      <a:pPr marL="285750" indent="-285750">
                        <a:lnSpc>
                          <a:spcPct val="150000"/>
                        </a:lnSpc>
                        <a:buFont typeface="Arial" panose="020B0604020202020204" pitchFamily="34" charset="0"/>
                        <a:buChar char="•"/>
                      </a:pPr>
                      <a:r>
                        <a:rPr lang="en-US" sz="1200" dirty="0"/>
                        <a:t>Risk of Misleading Explanations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17218"/>
                  </a:ext>
                </a:extLst>
              </a:tr>
            </a:tbl>
          </a:graphicData>
        </a:graphic>
      </p:graphicFrame>
    </p:spTree>
    <p:extLst>
      <p:ext uri="{BB962C8B-B14F-4D97-AF65-F5344CB8AC3E}">
        <p14:creationId xmlns:p14="http://schemas.microsoft.com/office/powerpoint/2010/main" val="1811093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FF0265-D98A-4BCB-AF28-6F7B7A4E8F17}"/>
              </a:ext>
            </a:extLst>
          </p:cNvPr>
          <p:cNvSpPr>
            <a:spLocks noGrp="1"/>
          </p:cNvSpPr>
          <p:nvPr>
            <p:ph idx="1"/>
          </p:nvPr>
        </p:nvSpPr>
        <p:spPr>
          <a:xfrm>
            <a:off x="606381" y="1555170"/>
            <a:ext cx="10515600" cy="4351338"/>
          </a:xfrm>
        </p:spPr>
        <p:txBody>
          <a:bodyPr>
            <a:normAutofit fontScale="85000" lnSpcReduction="10000"/>
          </a:bodyPr>
          <a:lstStyle/>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existing system relies on traditional machine learning models trained on large, well-distributed, and complete datasets.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These models assume consistency between training and testing data to achieve reliable predictions.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Feature selection in such systems is often driven by statistical importance rather than stability. </a:t>
            </a:r>
          </a:p>
          <a:p>
            <a:pPr algn="just">
              <a:lnSpc>
                <a:spcPct val="160000"/>
              </a:lnSpc>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Explainability</a:t>
            </a:r>
            <a:r>
              <a:rPr lang="en-US" sz="2400" dirty="0">
                <a:latin typeface="Times New Roman" panose="02020603050405020304" pitchFamily="18" charset="0"/>
                <a:cs typeface="Times New Roman" panose="02020603050405020304" pitchFamily="18" charset="0"/>
              </a:rPr>
              <a:t> is limited, especially when data becomes noisy or incomplete.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Performance degrades significantly as data availability decreases. </a:t>
            </a:r>
          </a:p>
          <a:p>
            <a:pPr algn="just">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 a result, traditional ML systems struggle to maintain reliability in real-world, data-scarce scenarios.</a:t>
            </a:r>
            <a:endParaRPr lang="en-IN" sz="2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07D7501-2EFE-40A4-AC46-B7CE76A17A55}"/>
              </a:ext>
            </a:extLst>
          </p:cNvPr>
          <p:cNvSpPr txBox="1">
            <a:spLocks/>
          </p:cNvSpPr>
          <p:nvPr/>
        </p:nvSpPr>
        <p:spPr>
          <a:xfrm>
            <a:off x="606381" y="473501"/>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EXISTING SYSTEM</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674852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D609CF5-F751-4166-972D-3BE7124D7094}"/>
              </a:ext>
            </a:extLst>
          </p:cNvPr>
          <p:cNvSpPr>
            <a:spLocks noGrp="1" noChangeArrowheads="1"/>
          </p:cNvSpPr>
          <p:nvPr>
            <p:ph idx="1"/>
          </p:nvPr>
        </p:nvSpPr>
        <p:spPr bwMode="auto">
          <a:xfrm>
            <a:off x="2113208" y="1847329"/>
            <a:ext cx="4974439" cy="219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Low Feature Stability</a:t>
            </a:r>
          </a:p>
          <a:p>
            <a:pPr eaLnBrk="0" fontAlgn="base" hangingPunct="0">
              <a:lnSpc>
                <a:spcPct val="20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Poor Performance with Limited Data</a:t>
            </a:r>
          </a:p>
          <a:p>
            <a:pPr eaLnBrk="0" fontAlgn="base" hangingPunct="0">
              <a:lnSpc>
                <a:spcPct val="20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Lack of </a:t>
            </a:r>
            <a:r>
              <a:rPr lang="en-US" altLang="en-US" sz="2400" dirty="0" err="1">
                <a:latin typeface="Times New Roman" panose="02020603050405020304" pitchFamily="18" charset="0"/>
                <a:cs typeface="Times New Roman" panose="02020603050405020304" pitchFamily="18" charset="0"/>
              </a:rPr>
              <a:t>Explainability</a:t>
            </a:r>
            <a:endParaRPr lang="en-US" altLang="en-US" sz="24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EC99209F-04E8-41E6-BA35-D0EC0BCFEFB3}"/>
              </a:ext>
            </a:extLst>
          </p:cNvPr>
          <p:cNvSpPr txBox="1">
            <a:spLocks/>
          </p:cNvSpPr>
          <p:nvPr/>
        </p:nvSpPr>
        <p:spPr>
          <a:xfrm>
            <a:off x="838200" y="741130"/>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DISADVANTAGES</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2895845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DDCBFC-004A-4B1D-8FC5-BD8C4CC31591}"/>
              </a:ext>
            </a:extLst>
          </p:cNvPr>
          <p:cNvSpPr>
            <a:spLocks noGrp="1"/>
          </p:cNvSpPr>
          <p:nvPr>
            <p:ph idx="1"/>
          </p:nvPr>
        </p:nvSpPr>
        <p:spPr/>
        <p:txBody>
          <a:bodyPr>
            <a:normAutofit fontScale="85000"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The proposed system introduces a descriptive machine learning approach that utilizes data abstractions to identify predictive feature significance. </a:t>
            </a:r>
          </a:p>
          <a:p>
            <a:pPr algn="just">
              <a:lnSpc>
                <a:spcPct val="150000"/>
              </a:lnSpc>
            </a:pPr>
            <a:r>
              <a:rPr lang="en-US" sz="2400" dirty="0">
                <a:latin typeface="Times New Roman" panose="02020603050405020304" pitchFamily="18" charset="0"/>
                <a:cs typeface="Times New Roman" panose="02020603050405020304" pitchFamily="18" charset="0"/>
              </a:rPr>
              <a:t>Unlike traditional models, it is designed to function effectively with limited and incomplete data. </a:t>
            </a:r>
          </a:p>
          <a:p>
            <a:pPr algn="just">
              <a:lnSpc>
                <a:spcPct val="150000"/>
              </a:lnSpc>
            </a:pPr>
            <a:r>
              <a:rPr lang="en-US" sz="2400" dirty="0">
                <a:latin typeface="Times New Roman" panose="02020603050405020304" pitchFamily="18" charset="0"/>
                <a:cs typeface="Times New Roman" panose="02020603050405020304" pitchFamily="18" charset="0"/>
              </a:rPr>
              <a:t>The system emphasizes stable and consistent feature selection across varying data conditions. </a:t>
            </a:r>
          </a:p>
          <a:p>
            <a:pPr algn="just">
              <a:lnSpc>
                <a:spcPct val="150000"/>
              </a:lnSpc>
            </a:pPr>
            <a:r>
              <a:rPr lang="en-US" sz="2400" dirty="0">
                <a:latin typeface="Times New Roman" panose="02020603050405020304" pitchFamily="18" charset="0"/>
                <a:cs typeface="Times New Roman" panose="02020603050405020304" pitchFamily="18" charset="0"/>
              </a:rPr>
              <a:t>It mimics human-like abstraction learning to improve prediction reliability. </a:t>
            </a:r>
          </a:p>
          <a:p>
            <a:pPr algn="just">
              <a:lnSpc>
                <a:spcPct val="150000"/>
              </a:lnSpc>
            </a:pPr>
            <a:r>
              <a:rPr lang="en-US" sz="2400" dirty="0">
                <a:latin typeface="Times New Roman" panose="02020603050405020304" pitchFamily="18" charset="0"/>
                <a:cs typeface="Times New Roman" panose="02020603050405020304" pitchFamily="18" charset="0"/>
              </a:rPr>
              <a:t>Classification performance is maintained even as data quality degrades. </a:t>
            </a:r>
          </a:p>
          <a:p>
            <a:pPr algn="just">
              <a:lnSpc>
                <a:spcPct val="150000"/>
              </a:lnSpc>
            </a:pPr>
            <a:r>
              <a:rPr lang="en-US" sz="2400" dirty="0">
                <a:latin typeface="Times New Roman" panose="02020603050405020304" pitchFamily="18" charset="0"/>
                <a:cs typeface="Times New Roman" panose="02020603050405020304" pitchFamily="18" charset="0"/>
              </a:rPr>
              <a:t>This approach supports explainable and automated decision-making in critical applications.</a:t>
            </a:r>
            <a:endParaRPr lang="en-IN" sz="24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F776674-5928-4FA1-9B45-A58E8AA829B6}"/>
              </a:ext>
            </a:extLst>
          </p:cNvPr>
          <p:cNvSpPr txBox="1">
            <a:spLocks/>
          </p:cNvSpPr>
          <p:nvPr/>
        </p:nvSpPr>
        <p:spPr>
          <a:xfrm>
            <a:off x="606381" y="473501"/>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PROPOSED SYSTEM</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270805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3598AFB-EA56-4385-8263-511CA6C69EFC}"/>
              </a:ext>
            </a:extLst>
          </p:cNvPr>
          <p:cNvSpPr>
            <a:spLocks noGrp="1" noChangeArrowheads="1"/>
          </p:cNvSpPr>
          <p:nvPr>
            <p:ph idx="1"/>
          </p:nvPr>
        </p:nvSpPr>
        <p:spPr bwMode="auto">
          <a:xfrm>
            <a:off x="1945783" y="2242912"/>
            <a:ext cx="4837222" cy="16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Feature Stability</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Higher Accuracy with Limited Data</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Enhanced </a:t>
            </a:r>
            <a:r>
              <a:rPr lang="en-US" altLang="en-US" sz="2400" dirty="0" err="1">
                <a:latin typeface="Times New Roman" panose="02020603050405020304" pitchFamily="18" charset="0"/>
                <a:cs typeface="Times New Roman" panose="02020603050405020304" pitchFamily="18" charset="0"/>
              </a:rPr>
              <a:t>Explainability</a:t>
            </a:r>
            <a:endParaRPr lang="en-US" altLang="en-US" sz="24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046CFE52-E195-432D-91DF-24FF92F938BE}"/>
              </a:ext>
            </a:extLst>
          </p:cNvPr>
          <p:cNvSpPr txBox="1">
            <a:spLocks/>
          </p:cNvSpPr>
          <p:nvPr/>
        </p:nvSpPr>
        <p:spPr>
          <a:xfrm>
            <a:off x="838200" y="674223"/>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ADVANTAGES</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520734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1482C1E-AF3A-46F5-A1D9-D43E3FFF0B26}"/>
              </a:ext>
            </a:extLst>
          </p:cNvPr>
          <p:cNvPicPr>
            <a:picLocks noGrp="1" noChangeAspect="1"/>
          </p:cNvPicPr>
          <p:nvPr>
            <p:ph idx="1"/>
          </p:nvPr>
        </p:nvPicPr>
        <p:blipFill>
          <a:blip r:embed="rId2"/>
          <a:srcRect l="256" t="1757" r="-256" b="11859"/>
          <a:stretch>
            <a:fillRect/>
          </a:stretch>
        </p:blipFill>
        <p:spPr>
          <a:xfrm>
            <a:off x="3933370" y="866032"/>
            <a:ext cx="4545900" cy="5890368"/>
          </a:xfrm>
          <a:prstGeom prst="rect">
            <a:avLst/>
          </a:prstGeom>
        </p:spPr>
      </p:pic>
      <p:sp>
        <p:nvSpPr>
          <p:cNvPr id="6" name="Title 1">
            <a:extLst>
              <a:ext uri="{FF2B5EF4-FFF2-40B4-BE49-F238E27FC236}">
                <a16:creationId xmlns:a16="http://schemas.microsoft.com/office/drawing/2014/main" id="{0AC88238-3F13-4C5C-97D3-D7634D4FD9DB}"/>
              </a:ext>
            </a:extLst>
          </p:cNvPr>
          <p:cNvSpPr txBox="1">
            <a:spLocks/>
          </p:cNvSpPr>
          <p:nvPr/>
        </p:nvSpPr>
        <p:spPr>
          <a:xfrm>
            <a:off x="592929" y="346944"/>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ARCHITECTURE DIAGRAM</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340311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5F1CE83-B614-4BCD-866D-1C73E8FD1EE6}"/>
              </a:ext>
            </a:extLst>
          </p:cNvPr>
          <p:cNvSpPr>
            <a:spLocks noGrp="1" noChangeArrowheads="1"/>
          </p:cNvSpPr>
          <p:nvPr>
            <p:ph idx="1"/>
          </p:nvPr>
        </p:nvSpPr>
        <p:spPr bwMode="auto">
          <a:xfrm>
            <a:off x="1603834" y="1826712"/>
            <a:ext cx="8186937" cy="277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and Incompleteness Modeling</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Abstraction and Representation Learning</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Modeling and Classification</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Stability and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Explainability</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Analysis</a:t>
            </a:r>
          </a:p>
          <a:p>
            <a:pPr marR="0" lvl="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Evaluation under Limited Data</a:t>
            </a:r>
          </a:p>
        </p:txBody>
      </p:sp>
      <p:sp>
        <p:nvSpPr>
          <p:cNvPr id="6" name="Title 1">
            <a:extLst>
              <a:ext uri="{FF2B5EF4-FFF2-40B4-BE49-F238E27FC236}">
                <a16:creationId xmlns:a16="http://schemas.microsoft.com/office/drawing/2014/main" id="{BA9A7B19-B34C-4711-9771-8CC84237EF55}"/>
              </a:ext>
            </a:extLst>
          </p:cNvPr>
          <p:cNvSpPr txBox="1">
            <a:spLocks/>
          </p:cNvSpPr>
          <p:nvPr/>
        </p:nvSpPr>
        <p:spPr>
          <a:xfrm>
            <a:off x="606381" y="473501"/>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400" b="1" dirty="0">
                <a:latin typeface="Times New Roman" panose="02020603050405020304" pitchFamily="18" charset="0"/>
                <a:cs typeface="Times New Roman" panose="02020603050405020304" pitchFamily="18" charset="0"/>
              </a:rPr>
              <a:t>MODULES</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3846044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3A02F7-7381-4B4C-AAE2-158EA3DCA0C9}"/>
              </a:ext>
            </a:extLst>
          </p:cNvPr>
          <p:cNvSpPr>
            <a:spLocks noGrp="1"/>
          </p:cNvSpPr>
          <p:nvPr>
            <p:ph idx="1"/>
          </p:nvPr>
        </p:nvSpPr>
        <p:spPr>
          <a:xfrm>
            <a:off x="838200" y="1616970"/>
            <a:ext cx="10515600" cy="5073762"/>
          </a:xfrm>
        </p:spPr>
        <p:txBody>
          <a:bodyPr>
            <a:normAutofit/>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Data Preprocessing and Incompleteness Modeling</a:t>
            </a:r>
          </a:p>
          <a:p>
            <a:pPr algn="just">
              <a:lnSpc>
                <a:spcPct val="100000"/>
              </a:lnSpc>
            </a:pPr>
            <a:r>
              <a:rPr lang="en-US" sz="1800" dirty="0">
                <a:latin typeface="Times New Roman" panose="02020603050405020304" pitchFamily="18" charset="0"/>
                <a:cs typeface="Times New Roman" panose="02020603050405020304" pitchFamily="18" charset="0"/>
              </a:rPr>
              <a:t>This module is responsible for preparing the dataset for analysis. It handles data cleaning, normalization, and encoding of features. </a:t>
            </a:r>
          </a:p>
          <a:p>
            <a:pPr algn="just">
              <a:lnSpc>
                <a:spcPct val="100000"/>
              </a:lnSpc>
            </a:pPr>
            <a:r>
              <a:rPr lang="en-US" sz="1800" dirty="0">
                <a:latin typeface="Times New Roman" panose="02020603050405020304" pitchFamily="18" charset="0"/>
                <a:cs typeface="Times New Roman" panose="02020603050405020304" pitchFamily="18" charset="0"/>
              </a:rPr>
              <a:t>Additionally, it simulates limited and incomplete data scenarios by introducing controlled amounts of missing values or reduced sample sizes.</a:t>
            </a:r>
          </a:p>
          <a:p>
            <a:pPr algn="just">
              <a:lnSpc>
                <a:spcPct val="100000"/>
              </a:lnSpc>
            </a:pPr>
            <a:r>
              <a:rPr lang="en-US" sz="1800" dirty="0">
                <a:latin typeface="Times New Roman" panose="02020603050405020304" pitchFamily="18" charset="0"/>
                <a:cs typeface="Times New Roman" panose="02020603050405020304" pitchFamily="18" charset="0"/>
              </a:rPr>
              <a:t> This allows the system to evaluate how different machine learning approaches behave as data availability decreases.</a:t>
            </a:r>
          </a:p>
          <a:p>
            <a:pPr algn="just">
              <a:lnSpc>
                <a:spcPct val="100000"/>
              </a:lnSpc>
            </a:pP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US" sz="1800" dirty="0">
              <a:latin typeface="Times New Roman" panose="02020603050405020304" pitchFamily="18" charset="0"/>
              <a:cs typeface="Times New Roman" panose="02020603050405020304" pitchFamily="18" charset="0"/>
            </a:endParaRPr>
          </a:p>
          <a:p>
            <a:pPr algn="just">
              <a:lnSpc>
                <a:spcPct val="100000"/>
              </a:lnSpc>
            </a:pP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0663D25-B1AF-49FC-A20D-90F7F93D3E47}"/>
              </a:ext>
            </a:extLst>
          </p:cNvPr>
          <p:cNvSpPr txBox="1">
            <a:spLocks/>
          </p:cNvSpPr>
          <p:nvPr/>
        </p:nvSpPr>
        <p:spPr>
          <a:xfrm>
            <a:off x="606381" y="473501"/>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MODULES DESCRIPTION</a:t>
            </a:r>
            <a:endParaRPr lang="en-IN" b="1" dirty="0">
              <a:latin typeface="Garamond" panose="02020404030301010803"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26A69A2-8202-4A42-8F58-7ABF4FECCDEF}"/>
              </a:ext>
            </a:extLst>
          </p:cNvPr>
          <p:cNvPicPr/>
          <p:nvPr/>
        </p:nvPicPr>
        <p:blipFill rotWithShape="1">
          <a:blip r:embed="rId2" cstate="print"/>
          <a:srcRect t="10471"/>
          <a:stretch/>
        </p:blipFill>
        <p:spPr bwMode="auto">
          <a:xfrm>
            <a:off x="2917371" y="3860800"/>
            <a:ext cx="5512951" cy="2675989"/>
          </a:xfrm>
          <a:prstGeom prst="rect">
            <a:avLst/>
          </a:prstGeom>
          <a:noFill/>
          <a:ln w="9525">
            <a:noFill/>
            <a:miter lim="800000"/>
            <a:headEnd/>
            <a:tailEnd/>
          </a:ln>
        </p:spPr>
      </p:pic>
    </p:spTree>
    <p:extLst>
      <p:ext uri="{BB962C8B-B14F-4D97-AF65-F5344CB8AC3E}">
        <p14:creationId xmlns:p14="http://schemas.microsoft.com/office/powerpoint/2010/main" val="414040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495DD6-9F0D-4E86-8030-65D29C3BDEDB}"/>
              </a:ext>
            </a:extLst>
          </p:cNvPr>
          <p:cNvSpPr>
            <a:spLocks noGrp="1"/>
          </p:cNvSpPr>
          <p:nvPr>
            <p:ph idx="1"/>
          </p:nvPr>
        </p:nvSpPr>
        <p:spPr>
          <a:xfrm>
            <a:off x="838200" y="635620"/>
            <a:ext cx="10515600" cy="5541343"/>
          </a:xfrm>
        </p:spPr>
        <p:txBody>
          <a:bodyPr>
            <a:normAutofit/>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Feature Abstraction and Representation Learning</a:t>
            </a:r>
          </a:p>
          <a:p>
            <a:pPr algn="just">
              <a:lnSpc>
                <a:spcPct val="100000"/>
              </a:lnSpc>
            </a:pPr>
            <a:r>
              <a:rPr lang="en-US" sz="1800" dirty="0">
                <a:latin typeface="Times New Roman" panose="02020603050405020304" pitchFamily="18" charset="0"/>
                <a:cs typeface="Times New Roman" panose="02020603050405020304" pitchFamily="18" charset="0"/>
              </a:rPr>
              <a:t>This module transforms raw input features into higher-level abstractions that capture meaningful patterns in the data.</a:t>
            </a:r>
          </a:p>
          <a:p>
            <a:pPr algn="just">
              <a:lnSpc>
                <a:spcPct val="100000"/>
              </a:lnSpc>
            </a:pPr>
            <a:r>
              <a:rPr lang="en-US" sz="1800" dirty="0">
                <a:latin typeface="Times New Roman" panose="02020603050405020304" pitchFamily="18" charset="0"/>
                <a:cs typeface="Times New Roman" panose="02020603050405020304" pitchFamily="18" charset="0"/>
              </a:rPr>
              <a:t> Instead of relying solely on individual feature values, it learns conceptual representations that are more robust to noise and missing information.</a:t>
            </a:r>
          </a:p>
          <a:p>
            <a:pPr algn="just">
              <a:lnSpc>
                <a:spcPct val="100000"/>
              </a:lnSpc>
            </a:pPr>
            <a:r>
              <a:rPr lang="en-US" sz="1800" dirty="0">
                <a:latin typeface="Times New Roman" panose="02020603050405020304" pitchFamily="18" charset="0"/>
                <a:cs typeface="Times New Roman" panose="02020603050405020304" pitchFamily="18" charset="0"/>
              </a:rPr>
              <a:t> These abstractions aim to mimic human-like reasoning and form the basis for stable and explainable feature learning under limited data conditions.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nSpc>
                <a:spcPct val="150000"/>
              </a:lnSpc>
              <a:buNone/>
            </a:pPr>
            <a:endParaRPr lang="en-US" sz="1800" dirty="0"/>
          </a:p>
        </p:txBody>
      </p:sp>
      <p:pic>
        <p:nvPicPr>
          <p:cNvPr id="6" name="Content Placeholder 3">
            <a:extLst>
              <a:ext uri="{FF2B5EF4-FFF2-40B4-BE49-F238E27FC236}">
                <a16:creationId xmlns:a16="http://schemas.microsoft.com/office/drawing/2014/main" id="{E1945932-3113-41C8-9FFA-00A1BC02B385}"/>
              </a:ext>
            </a:extLst>
          </p:cNvPr>
          <p:cNvPicPr>
            <a:picLocks noChangeAspect="1"/>
          </p:cNvPicPr>
          <p:nvPr/>
        </p:nvPicPr>
        <p:blipFill>
          <a:blip r:embed="rId2"/>
          <a:stretch>
            <a:fillRect/>
          </a:stretch>
        </p:blipFill>
        <p:spPr>
          <a:xfrm>
            <a:off x="2620537" y="3088402"/>
            <a:ext cx="6336583" cy="3133978"/>
          </a:xfrm>
          <a:prstGeom prst="rect">
            <a:avLst/>
          </a:prstGeom>
        </p:spPr>
      </p:pic>
    </p:spTree>
    <p:extLst>
      <p:ext uri="{BB962C8B-B14F-4D97-AF65-F5344CB8AC3E}">
        <p14:creationId xmlns:p14="http://schemas.microsoft.com/office/powerpoint/2010/main" val="4041662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3D9998-CA71-466C-8E9A-25A1AE70F3CF}"/>
              </a:ext>
            </a:extLst>
          </p:cNvPr>
          <p:cNvSpPr>
            <a:spLocks noGrp="1"/>
          </p:cNvSpPr>
          <p:nvPr>
            <p:ph idx="1"/>
          </p:nvPr>
        </p:nvSpPr>
        <p:spPr>
          <a:xfrm>
            <a:off x="838200" y="490654"/>
            <a:ext cx="10515600" cy="5551372"/>
          </a:xfrm>
        </p:spPr>
        <p:txBody>
          <a:bodyPr>
            <a:normAutofit/>
          </a:bodyPr>
          <a:lstStyle/>
          <a:p>
            <a:pPr marL="0" indent="0" algn="just">
              <a:lnSpc>
                <a:spcPct val="160000"/>
              </a:lnSpc>
              <a:buNone/>
            </a:pPr>
            <a:r>
              <a:rPr lang="en-US" sz="2200" b="1" dirty="0">
                <a:latin typeface="Times New Roman" panose="02020603050405020304" pitchFamily="18" charset="0"/>
                <a:cs typeface="Times New Roman" panose="02020603050405020304" pitchFamily="18" charset="0"/>
              </a:rPr>
              <a:t>Predictive Modeling and Classification</a:t>
            </a:r>
          </a:p>
          <a:p>
            <a:pPr algn="just">
              <a:lnSpc>
                <a:spcPct val="100000"/>
              </a:lnSpc>
            </a:pPr>
            <a:r>
              <a:rPr lang="en-US" sz="1800" dirty="0">
                <a:latin typeface="Times New Roman" panose="02020603050405020304" pitchFamily="18" charset="0"/>
                <a:cs typeface="Times New Roman" panose="02020603050405020304" pitchFamily="18" charset="0"/>
              </a:rPr>
              <a:t>This module implements and trains machine learning models using both traditional feature-based methods and the abstraction-based approach. </a:t>
            </a:r>
          </a:p>
          <a:p>
            <a:pPr algn="just">
              <a:lnSpc>
                <a:spcPct val="100000"/>
              </a:lnSpc>
            </a:pPr>
            <a:r>
              <a:rPr lang="en-US" sz="1800" dirty="0">
                <a:latin typeface="Times New Roman" panose="02020603050405020304" pitchFamily="18" charset="0"/>
                <a:cs typeface="Times New Roman" panose="02020603050405020304" pitchFamily="18" charset="0"/>
              </a:rPr>
              <a:t>It performs classification tasks and generates predictions based on the learned representations.</a:t>
            </a:r>
          </a:p>
          <a:p>
            <a:pPr algn="just">
              <a:lnSpc>
                <a:spcPct val="100000"/>
              </a:lnSpc>
            </a:pPr>
            <a:r>
              <a:rPr lang="en-US" sz="1800" dirty="0">
                <a:latin typeface="Times New Roman" panose="02020603050405020304" pitchFamily="18" charset="0"/>
                <a:cs typeface="Times New Roman" panose="02020603050405020304" pitchFamily="18" charset="0"/>
              </a:rPr>
              <a:t> The module supports model comparison to analyze how different learning strategies perform when trained on incomplete or reduced datasets.</a:t>
            </a:r>
          </a:p>
          <a:p>
            <a:pPr algn="just">
              <a:lnSpc>
                <a:spcPct val="100000"/>
              </a:lnSpc>
            </a:pPr>
            <a:endParaRPr lang="en-US" sz="1800" dirty="0">
              <a:latin typeface="Times New Roman" panose="02020603050405020304" pitchFamily="18" charset="0"/>
              <a:cs typeface="Times New Roman" panose="02020603050405020304" pitchFamily="18" charset="0"/>
            </a:endParaRPr>
          </a:p>
          <a:p>
            <a:pPr algn="just">
              <a:lnSpc>
                <a:spcPct val="160000"/>
              </a:lnSpc>
            </a:pPr>
            <a:endParaRPr lang="en-IN" sz="2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12B026-CFBE-45BC-B666-0DCAFD62CAFA}"/>
              </a:ext>
            </a:extLst>
          </p:cNvPr>
          <p:cNvPicPr/>
          <p:nvPr/>
        </p:nvPicPr>
        <p:blipFill rotWithShape="1">
          <a:blip r:embed="rId2" cstate="print"/>
          <a:srcRect t="9589"/>
          <a:stretch/>
        </p:blipFill>
        <p:spPr bwMode="auto">
          <a:xfrm>
            <a:off x="3042557" y="3266340"/>
            <a:ext cx="6106886" cy="2893760"/>
          </a:xfrm>
          <a:prstGeom prst="rect">
            <a:avLst/>
          </a:prstGeom>
          <a:noFill/>
          <a:ln w="9525">
            <a:noFill/>
            <a:miter lim="800000"/>
            <a:headEnd/>
            <a:tailEnd/>
          </a:ln>
        </p:spPr>
      </p:pic>
    </p:spTree>
    <p:extLst>
      <p:ext uri="{BB962C8B-B14F-4D97-AF65-F5344CB8AC3E}">
        <p14:creationId xmlns:p14="http://schemas.microsoft.com/office/powerpoint/2010/main" val="1535185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FB9C7B-B9E0-422E-BAC9-3B762234D048}"/>
              </a:ext>
            </a:extLst>
          </p:cNvPr>
          <p:cNvSpPr>
            <a:spLocks noGrp="1"/>
          </p:cNvSpPr>
          <p:nvPr>
            <p:ph idx="1"/>
          </p:nvPr>
        </p:nvSpPr>
        <p:spPr>
          <a:xfrm>
            <a:off x="838200" y="501805"/>
            <a:ext cx="10515600" cy="5675158"/>
          </a:xfrm>
        </p:spPr>
        <p:txBody>
          <a:bodyPr>
            <a:normAutofit/>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Feature Stability and </a:t>
            </a:r>
            <a:r>
              <a:rPr lang="en-US" sz="1800" b="1" dirty="0" err="1">
                <a:latin typeface="Times New Roman" panose="02020603050405020304" pitchFamily="18" charset="0"/>
                <a:cs typeface="Times New Roman" panose="02020603050405020304" pitchFamily="18" charset="0"/>
              </a:rPr>
              <a:t>Explainability</a:t>
            </a:r>
            <a:r>
              <a:rPr lang="en-US" sz="1800" b="1" dirty="0">
                <a:latin typeface="Times New Roman" panose="02020603050405020304" pitchFamily="18" charset="0"/>
                <a:cs typeface="Times New Roman" panose="02020603050405020304" pitchFamily="18" charset="0"/>
              </a:rPr>
              <a:t> Analysis</a:t>
            </a:r>
          </a:p>
          <a:p>
            <a:pPr algn="just">
              <a:lnSpc>
                <a:spcPct val="100000"/>
              </a:lnSpc>
            </a:pPr>
            <a:r>
              <a:rPr lang="en-US" sz="1800" dirty="0">
                <a:latin typeface="Times New Roman" panose="02020603050405020304" pitchFamily="18" charset="0"/>
                <a:cs typeface="Times New Roman" panose="02020603050405020304" pitchFamily="18" charset="0"/>
              </a:rPr>
              <a:t>This module evaluates the consistency and reliability of selected predictive features across multiple training runs and data variations. </a:t>
            </a:r>
          </a:p>
          <a:p>
            <a:pPr algn="just">
              <a:lnSpc>
                <a:spcPct val="100000"/>
              </a:lnSpc>
            </a:pPr>
            <a:r>
              <a:rPr lang="en-US" sz="1800" dirty="0">
                <a:latin typeface="Times New Roman" panose="02020603050405020304" pitchFamily="18" charset="0"/>
                <a:cs typeface="Times New Roman" panose="02020603050405020304" pitchFamily="18" charset="0"/>
              </a:rPr>
              <a:t>It measures feature stability using statistical or similarity-based metrics and provides interpretable explanations of model decisions. The goal is to ensure that important features remain consistent and meaningful, increasing trust in the model’s predictions.</a:t>
            </a:r>
          </a:p>
          <a:p>
            <a:pPr algn="just">
              <a:lnSpc>
                <a:spcPct val="100000"/>
              </a:lnSpc>
            </a:pPr>
            <a:endParaRPr lang="en-US" sz="1800" dirty="0">
              <a:latin typeface="Times New Roman" panose="02020603050405020304" pitchFamily="18" charset="0"/>
              <a:cs typeface="Times New Roman" panose="02020603050405020304" pitchFamily="18" charset="0"/>
            </a:endParaRPr>
          </a:p>
          <a:p>
            <a:pPr>
              <a:lnSpc>
                <a:spcPct val="100000"/>
              </a:lnSpc>
            </a:pPr>
            <a:endParaRPr lang="en-US" sz="1800" dirty="0"/>
          </a:p>
        </p:txBody>
      </p:sp>
      <p:pic>
        <p:nvPicPr>
          <p:cNvPr id="5" name="Content Placeholder 3">
            <a:extLst>
              <a:ext uri="{FF2B5EF4-FFF2-40B4-BE49-F238E27FC236}">
                <a16:creationId xmlns:a16="http://schemas.microsoft.com/office/drawing/2014/main" id="{C7CB8C23-F8C5-47FC-973E-BB22F9E92178}"/>
              </a:ext>
            </a:extLst>
          </p:cNvPr>
          <p:cNvPicPr>
            <a:picLocks noChangeAspect="1"/>
          </p:cNvPicPr>
          <p:nvPr/>
        </p:nvPicPr>
        <p:blipFill>
          <a:blip r:embed="rId2"/>
          <a:stretch>
            <a:fillRect/>
          </a:stretch>
        </p:blipFill>
        <p:spPr>
          <a:xfrm>
            <a:off x="2728686" y="3078414"/>
            <a:ext cx="6152675" cy="3098549"/>
          </a:xfrm>
          <a:prstGeom prst="rect">
            <a:avLst/>
          </a:prstGeom>
        </p:spPr>
      </p:pic>
    </p:spTree>
    <p:extLst>
      <p:ext uri="{BB962C8B-B14F-4D97-AF65-F5344CB8AC3E}">
        <p14:creationId xmlns:p14="http://schemas.microsoft.com/office/powerpoint/2010/main" val="1670708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AA2262-954F-47F4-A570-ED4CE8C5B6D1}"/>
              </a:ext>
            </a:extLst>
          </p:cNvPr>
          <p:cNvSpPr>
            <a:spLocks noGrp="1"/>
          </p:cNvSpPr>
          <p:nvPr>
            <p:ph idx="1"/>
          </p:nvPr>
        </p:nvSpPr>
        <p:spPr>
          <a:xfrm>
            <a:off x="838200" y="914400"/>
            <a:ext cx="10515600" cy="5262563"/>
          </a:xfrm>
        </p:spPr>
        <p:txBody>
          <a:bodyPr/>
          <a:lstStyle/>
          <a:p>
            <a:pPr marL="0" indent="0" algn="just">
              <a:lnSpc>
                <a:spcPct val="100000"/>
              </a:lnSpc>
              <a:spcBef>
                <a:spcPct val="0"/>
              </a:spcBef>
              <a:buNone/>
            </a:pPr>
            <a:r>
              <a:rPr lang="en-US" sz="1700" b="1" dirty="0">
                <a:latin typeface="Times New Roman" panose="02020603050405020304" pitchFamily="18" charset="0"/>
                <a:ea typeface="+mj-ea"/>
                <a:cs typeface="Times New Roman" panose="02020603050405020304" pitchFamily="18" charset="0"/>
              </a:rPr>
              <a:t>Performance Evaluation under Limited Data</a:t>
            </a:r>
          </a:p>
          <a:p>
            <a:pPr algn="just">
              <a:lnSpc>
                <a:spcPct val="100000"/>
              </a:lnSpc>
              <a:spcBef>
                <a:spcPct val="0"/>
              </a:spcBef>
            </a:pPr>
            <a:r>
              <a:rPr lang="en-US" sz="1700" dirty="0">
                <a:latin typeface="Times New Roman" panose="02020603050405020304" pitchFamily="18" charset="0"/>
                <a:ea typeface="+mj-ea"/>
                <a:cs typeface="Times New Roman" panose="02020603050405020304" pitchFamily="18" charset="0"/>
              </a:rPr>
              <a:t>This module assesses overall system performance using metrics such as accuracy, precision, recall, and robustness under varying levels of data incompleteness.</a:t>
            </a:r>
          </a:p>
          <a:p>
            <a:pPr algn="just">
              <a:lnSpc>
                <a:spcPct val="100000"/>
              </a:lnSpc>
              <a:spcBef>
                <a:spcPct val="0"/>
              </a:spcBef>
            </a:pPr>
            <a:r>
              <a:rPr lang="en-US" sz="1700" dirty="0">
                <a:latin typeface="Times New Roman" panose="02020603050405020304" pitchFamily="18" charset="0"/>
                <a:ea typeface="+mj-ea"/>
                <a:cs typeface="Times New Roman" panose="02020603050405020304" pitchFamily="18" charset="0"/>
              </a:rPr>
              <a:t> It compares traditional machine learning methods with the abstraction-based approach to demonstrate performance degradation or resilience. </a:t>
            </a:r>
          </a:p>
          <a:p>
            <a:pPr algn="just">
              <a:lnSpc>
                <a:spcPct val="100000"/>
              </a:lnSpc>
              <a:spcBef>
                <a:spcPct val="0"/>
              </a:spcBef>
            </a:pPr>
            <a:r>
              <a:rPr lang="en-US" sz="1700" dirty="0">
                <a:latin typeface="Times New Roman" panose="02020603050405020304" pitchFamily="18" charset="0"/>
                <a:ea typeface="+mj-ea"/>
                <a:cs typeface="Times New Roman" panose="02020603050405020304" pitchFamily="18" charset="0"/>
              </a:rPr>
              <a:t>The results help validate the effectiveness of the proposed method in limited-data scenarios.</a:t>
            </a:r>
          </a:p>
          <a:p>
            <a:pPr algn="just">
              <a:lnSpc>
                <a:spcPct val="100000"/>
              </a:lnSpc>
              <a:spcBef>
                <a:spcPct val="0"/>
              </a:spcBef>
            </a:pPr>
            <a:endParaRPr lang="en-US" sz="1700" dirty="0">
              <a:latin typeface="Times New Roman" panose="02020603050405020304" pitchFamily="18" charset="0"/>
              <a:ea typeface="+mj-ea"/>
              <a:cs typeface="Times New Roman" panose="02020603050405020304" pitchFamily="18" charset="0"/>
            </a:endParaRPr>
          </a:p>
          <a:p>
            <a:pPr algn="just">
              <a:lnSpc>
                <a:spcPct val="100000"/>
              </a:lnSpc>
              <a:spcBef>
                <a:spcPct val="0"/>
              </a:spcBef>
            </a:pPr>
            <a:endParaRPr lang="en-US" sz="1700" dirty="0">
              <a:latin typeface="Times New Roman" panose="02020603050405020304" pitchFamily="18" charset="0"/>
              <a:ea typeface="+mj-ea"/>
              <a:cs typeface="Times New Roman" panose="02020603050405020304" pitchFamily="18" charset="0"/>
            </a:endParaRPr>
          </a:p>
          <a:p>
            <a:pPr marL="0" indent="0" algn="just">
              <a:spcBef>
                <a:spcPct val="0"/>
              </a:spcBef>
              <a:buNone/>
            </a:pPr>
            <a:endParaRPr lang="en-IN" sz="3200" b="1" dirty="0">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1DCD3A29-3DDC-46F4-9303-861CC43FF5D0}"/>
              </a:ext>
            </a:extLst>
          </p:cNvPr>
          <p:cNvPicPr/>
          <p:nvPr/>
        </p:nvPicPr>
        <p:blipFill rotWithShape="1">
          <a:blip r:embed="rId2" cstate="print"/>
          <a:srcRect t="13826"/>
          <a:stretch/>
        </p:blipFill>
        <p:spPr bwMode="auto">
          <a:xfrm>
            <a:off x="2438401" y="2873829"/>
            <a:ext cx="6461814" cy="3303134"/>
          </a:xfrm>
          <a:prstGeom prst="rect">
            <a:avLst/>
          </a:prstGeom>
          <a:noFill/>
          <a:ln w="9525">
            <a:noFill/>
            <a:miter lim="800000"/>
            <a:headEnd/>
            <a:tailEnd/>
          </a:ln>
        </p:spPr>
      </p:pic>
    </p:spTree>
    <p:extLst>
      <p:ext uri="{BB962C8B-B14F-4D97-AF65-F5344CB8AC3E}">
        <p14:creationId xmlns:p14="http://schemas.microsoft.com/office/powerpoint/2010/main" val="3538037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6BAA-7E99-4FDD-ACCB-226E1F2F6901}"/>
              </a:ext>
            </a:extLst>
          </p:cNvPr>
          <p:cNvSpPr>
            <a:spLocks noGrp="1"/>
          </p:cNvSpPr>
          <p:nvPr>
            <p:ph type="title"/>
          </p:nvPr>
        </p:nvSpPr>
        <p:spPr/>
        <p:txBody>
          <a:bodyPr/>
          <a:lstStyle/>
          <a:p>
            <a:r>
              <a:rPr lang="en-US" dirty="0" err="1"/>
              <a:t>Codings</a:t>
            </a:r>
            <a:endParaRPr lang="en-US" dirty="0"/>
          </a:p>
        </p:txBody>
      </p:sp>
      <p:sp>
        <p:nvSpPr>
          <p:cNvPr id="3" name="Content Placeholder 2">
            <a:extLst>
              <a:ext uri="{FF2B5EF4-FFF2-40B4-BE49-F238E27FC236}">
                <a16:creationId xmlns:a16="http://schemas.microsoft.com/office/drawing/2014/main" id="{BDD50718-4E2A-4A41-A19B-6F6A63C3943F}"/>
              </a:ext>
            </a:extLst>
          </p:cNvPr>
          <p:cNvSpPr>
            <a:spLocks noGrp="1"/>
          </p:cNvSpPr>
          <p:nvPr>
            <p:ph idx="1"/>
          </p:nvPr>
        </p:nvSpPr>
        <p:spPr>
          <a:xfrm>
            <a:off x="838200" y="1422401"/>
            <a:ext cx="10515600" cy="5212576"/>
          </a:xfrm>
        </p:spPr>
        <p:txBody>
          <a:bodyPr>
            <a:normAutofit fontScale="55000" lnSpcReduction="20000"/>
          </a:bodyPr>
          <a:lstStyle/>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STABILITY OF ML PREDICTIVE FEATURES UNDER LIMITED DATA</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numpy</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as np</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import pandas as pd</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matplotlib.pyplot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as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sklearn.datasets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make_classification</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sklearn.ensemble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RandomForestClassifier</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sklearn.linear_model</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LogisticRegression</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sklearn.preprocessing</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import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StandardScaler</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itertools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import combinations</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from collections import Counter</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1. Generate synthetic dataset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X, y =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make_classification</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n_samples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=500,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n_features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=15,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n_informative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=5,</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n_redundant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=2,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n_repeated</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=0,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n_classes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=2,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random_state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=42</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feature_names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for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in range(</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X.shape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[1])]</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df =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pd.DataFrame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(X, columns=</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feature_names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df['target'] = y</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89957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92A1F-F92B-4727-80C6-76BD418443D3}"/>
              </a:ext>
            </a:extLst>
          </p:cNvPr>
          <p:cNvSpPr>
            <a:spLocks noGrp="1"/>
          </p:cNvSpPr>
          <p:nvPr>
            <p:ph idx="1"/>
          </p:nvPr>
        </p:nvSpPr>
        <p:spPr>
          <a:xfrm>
            <a:off x="678542" y="135761"/>
            <a:ext cx="11716657" cy="6122020"/>
          </a:xfrm>
        </p:spPr>
        <p:txBody>
          <a:bodyPr>
            <a:noAutofit/>
          </a:bodyPr>
          <a:lstStyle/>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2. Define Jaccard similarity</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def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jaccard_index</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(list1, list2):</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set1, set2 = set(list1), set(list2)</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return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len</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(set1 &amp; set2)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len</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(set1 | set2)</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3. Feature selection stability</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n_iterations</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20     # Number of subsamples</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sample_size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50      # Limited data</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top_k</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5             # Top features to select</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selected_features_rf</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selected_features_lr</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for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in range(</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n_iterations</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Random subsample</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df_sample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df.sample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(n=</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sample_size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random_state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X_sample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df_sample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feature_names</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].values</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y_sample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df_sample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['target'].values</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Standardize</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scaler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StandardScaler</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X_scaled</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scaler.fit_transform</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100" dirty="0" err="1">
                <a:effectLst/>
                <a:latin typeface="Times New Roman" panose="02020603050405020304" pitchFamily="18" charset="0"/>
                <a:ea typeface="DengXian" panose="02010600030101010101" pitchFamily="2" charset="-122"/>
                <a:cs typeface="Times New Roman" panose="02020603050405020304" pitchFamily="18" charset="0"/>
              </a:rPr>
              <a:t>X_sample</a:t>
            </a: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1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1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sz="1100" dirty="0"/>
          </a:p>
        </p:txBody>
      </p:sp>
    </p:spTree>
    <p:extLst>
      <p:ext uri="{BB962C8B-B14F-4D97-AF65-F5344CB8AC3E}">
        <p14:creationId xmlns:p14="http://schemas.microsoft.com/office/powerpoint/2010/main" val="2292949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EA7268-3E86-4899-A69C-074A332A46A0}"/>
              </a:ext>
            </a:extLst>
          </p:cNvPr>
          <p:cNvSpPr>
            <a:spLocks noGrp="1"/>
          </p:cNvSpPr>
          <p:nvPr>
            <p:ph idx="1"/>
          </p:nvPr>
        </p:nvSpPr>
        <p:spPr>
          <a:xfrm>
            <a:off x="838200" y="858644"/>
            <a:ext cx="10515600" cy="5318319"/>
          </a:xfrm>
        </p:spPr>
        <p:txBody>
          <a:bodyPr>
            <a:noAutofit/>
          </a:bodyPr>
          <a:lstStyle/>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 Random Forest ---</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rf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RandomForestClassifier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n_estimators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=100,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random_state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rf.fit</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X_scaled</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y_sample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importances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rf.feature_importances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_</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top_features_rf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np.argsort</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importances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top_k</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selected_features_rf.append</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feature_names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[j] for j in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top_features_rf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 Logistic Regression ---</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LogisticRegression</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max_iter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=1000,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random_state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i</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lr.fit</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X_scaled</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y_sample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coefs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np.abs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lr.coef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_[0])</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top_features_lr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np.argsort</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coefs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top_k</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selected_features_lr.append</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feature_names</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[j] for j in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top_features_lr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4. Compute Jaccard stability</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stability_rf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jaccard_index</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(f1, f2) for f1, f2 in combinations(</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selected_features_rf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2)]</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stability_lr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jaccard_index</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(f1, f2) for f1, f2 in combinations(</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2)]</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print(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f"Average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Stability (Random Forest):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np.mean</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stability_rf</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):.3f}")</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print(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f"Average</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 Stability (Logistic Regression): {</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np.mean</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200" dirty="0" err="1">
                <a:effectLst/>
                <a:latin typeface="Times New Roman" panose="02020603050405020304" pitchFamily="18" charset="0"/>
                <a:ea typeface="DengXian" panose="02010600030101010101" pitchFamily="2" charset="-122"/>
                <a:cs typeface="Times New Roman" panose="02020603050405020304" pitchFamily="18" charset="0"/>
              </a:rPr>
              <a:t>stability_lr</a:t>
            </a:r>
            <a:r>
              <a:rPr lang="en-IN" sz="1200" dirty="0">
                <a:effectLst/>
                <a:latin typeface="Times New Roman" panose="02020603050405020304" pitchFamily="18" charset="0"/>
                <a:ea typeface="DengXian" panose="02010600030101010101" pitchFamily="2" charset="-122"/>
                <a:cs typeface="Times New Roman" panose="02020603050405020304" pitchFamily="18" charset="0"/>
              </a:rPr>
              <a:t>):.3f}")</a:t>
            </a:r>
            <a:endParaRPr lang="en-US" sz="1200" dirty="0">
              <a:effectLst/>
              <a:latin typeface="Times New Roman" panose="02020603050405020304" pitchFamily="18"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8971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B5AD0-990D-4C23-8FD6-FCEEF0CF51C6}"/>
              </a:ext>
            </a:extLst>
          </p:cNvPr>
          <p:cNvSpPr>
            <a:spLocks noGrp="1"/>
          </p:cNvSpPr>
          <p:nvPr>
            <p:ph idx="1"/>
          </p:nvPr>
        </p:nvSpPr>
        <p:spPr>
          <a:xfrm>
            <a:off x="838200" y="591015"/>
            <a:ext cx="10515600" cy="5585948"/>
          </a:xfrm>
        </p:spPr>
        <p:txBody>
          <a:bodyPr>
            <a:normAutofit fontScale="77500" lnSpcReduction="20000"/>
          </a:bodyPr>
          <a:lstStyle/>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5. Feature selection frequency plot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all_selected_rf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 [f for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sublist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in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selected_features_rf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for f in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sublist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all_selected_lr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 [f for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sublist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in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selected_features_lr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for f in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sublist</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freq_rf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 Counter(</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all_selected_rf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freq_lr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 Counter(</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all_selected_lr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plt.figure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figsize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=(12,5))</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plt.bar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np.arange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len</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freq_rf</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list(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freq_rf.values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tick_label</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=list(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freq_rf.keys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alpha=0.7, label="Random Forest")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plt.bar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np.arange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len</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freq_lr</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list(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freq_lr.values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tick_label</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=list(</a:t>
            </a: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freq_lr.keys</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alpha=0.5, label="Logistic Regression")</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plt.xlabel</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("Features")</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plt.ylabel</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("Selection Frequency")</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plt.title</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("Feature Selection Frequency under Limited Data")</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plt.legend</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plt.grid</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err="1">
                <a:effectLst/>
                <a:latin typeface="Times New Roman" panose="02020603050405020304" pitchFamily="18" charset="0"/>
                <a:ea typeface="DengXian" panose="02010600030101010101" pitchFamily="2" charset="-122"/>
                <a:cs typeface="Times New Roman" panose="02020603050405020304" pitchFamily="18" charset="0"/>
              </a:rPr>
              <a:t>plt.show</a:t>
            </a: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346593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4AD6234-112C-4DF8-82F5-835AF3EF8A22}"/>
              </a:ext>
            </a:extLst>
          </p:cNvPr>
          <p:cNvPicPr>
            <a:picLocks noGrp="1" noChangeAspect="1"/>
          </p:cNvPicPr>
          <p:nvPr>
            <p:ph idx="1"/>
          </p:nvPr>
        </p:nvPicPr>
        <p:blipFill>
          <a:blip r:embed="rId2"/>
          <a:stretch>
            <a:fillRect/>
          </a:stretch>
        </p:blipFill>
        <p:spPr>
          <a:xfrm>
            <a:off x="2384445" y="2395712"/>
            <a:ext cx="8068735" cy="3961545"/>
          </a:xfrm>
          <a:prstGeom prst="rect">
            <a:avLst/>
          </a:prstGeom>
        </p:spPr>
      </p:pic>
      <p:sp>
        <p:nvSpPr>
          <p:cNvPr id="8" name="TextBox 7">
            <a:extLst>
              <a:ext uri="{FF2B5EF4-FFF2-40B4-BE49-F238E27FC236}">
                <a16:creationId xmlns:a16="http://schemas.microsoft.com/office/drawing/2014/main" id="{35757A1F-B9DD-4BAC-84FC-3466048BFB55}"/>
              </a:ext>
            </a:extLst>
          </p:cNvPr>
          <p:cNvSpPr txBox="1"/>
          <p:nvPr/>
        </p:nvSpPr>
        <p:spPr>
          <a:xfrm>
            <a:off x="1017647" y="1609834"/>
            <a:ext cx="6094140" cy="463397"/>
          </a:xfrm>
          <a:prstGeom prst="rect">
            <a:avLst/>
          </a:prstGeom>
          <a:noFill/>
        </p:spPr>
        <p:txBody>
          <a:bodyPr wrap="square">
            <a:spAutoFit/>
          </a:bodyPr>
          <a:lstStyle/>
          <a:p>
            <a:pPr marL="0" marR="0">
              <a:lnSpc>
                <a:spcPct val="150000"/>
              </a:lnSpc>
              <a:spcBef>
                <a:spcPts val="0"/>
              </a:spcBef>
              <a:spcAft>
                <a:spcPts val="0"/>
              </a:spcAft>
            </a:pPr>
            <a:r>
              <a:rPr lang="en-IN" sz="1800" dirty="0">
                <a:effectLst/>
                <a:latin typeface="Times New Roman" panose="02020603050405020304" pitchFamily="18" charset="0"/>
                <a:ea typeface="DengXian" panose="02010600030101010101" pitchFamily="2" charset="-122"/>
                <a:cs typeface="Times New Roman" panose="02020603050405020304" pitchFamily="18" charset="0"/>
              </a:rPr>
              <a:t>Import Libraries</a:t>
            </a:r>
            <a:endParaRPr lang="en-US" sz="12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7" name="Title 1">
            <a:extLst>
              <a:ext uri="{FF2B5EF4-FFF2-40B4-BE49-F238E27FC236}">
                <a16:creationId xmlns:a16="http://schemas.microsoft.com/office/drawing/2014/main" id="{574CECCA-0486-406F-BA85-FD90A0C64910}"/>
              </a:ext>
            </a:extLst>
          </p:cNvPr>
          <p:cNvSpPr txBox="1">
            <a:spLocks/>
          </p:cNvSpPr>
          <p:nvPr/>
        </p:nvSpPr>
        <p:spPr>
          <a:xfrm>
            <a:off x="652303" y="666665"/>
            <a:ext cx="10515600" cy="620688"/>
          </a:xfrm>
          <a:prstGeom prst="rect">
            <a:avLst/>
          </a:prstGeom>
          <a:solidFill>
            <a:srgbClr val="00B0F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nSpc>
                <a:spcPct val="100000"/>
              </a:lnSpc>
              <a:spcBef>
                <a:spcPct val="0"/>
              </a:spcBef>
              <a:buNone/>
            </a:pPr>
            <a:br>
              <a:rPr lang="en-US" sz="4000" b="1" dirty="0">
                <a:latin typeface="Times New Roman" panose="02020603050405020304" pitchFamily="18" charset="0"/>
                <a:ea typeface="+mj-ea"/>
                <a:cs typeface="Times New Roman" panose="02020603050405020304" pitchFamily="18" charset="0"/>
              </a:rPr>
            </a:br>
            <a:r>
              <a:rPr lang="en-US" sz="4000" b="1" dirty="0">
                <a:latin typeface="Times New Roman" panose="02020603050405020304" pitchFamily="18" charset="0"/>
                <a:ea typeface="+mj-ea"/>
                <a:cs typeface="Times New Roman" panose="02020603050405020304" pitchFamily="18" charset="0"/>
              </a:rPr>
              <a:t>SCREENSHOT</a:t>
            </a:r>
            <a:br>
              <a:rPr lang="en-US" sz="4000" b="1" dirty="0">
                <a:latin typeface="Times New Roman" panose="02020603050405020304" pitchFamily="18" charset="0"/>
                <a:ea typeface="+mj-ea"/>
                <a:cs typeface="Times New Roman" panose="02020603050405020304" pitchFamily="18" charset="0"/>
              </a:rPr>
            </a:br>
            <a:endParaRPr lang="en-US" sz="4000" b="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4013892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D699220-D219-42C9-84D5-19519F6CF6BB}"/>
              </a:ext>
            </a:extLst>
          </p:cNvPr>
          <p:cNvPicPr>
            <a:picLocks noGrp="1" noChangeAspect="1"/>
          </p:cNvPicPr>
          <p:nvPr>
            <p:ph idx="1"/>
          </p:nvPr>
        </p:nvPicPr>
        <p:blipFill>
          <a:blip r:embed="rId2"/>
          <a:stretch>
            <a:fillRect/>
          </a:stretch>
        </p:blipFill>
        <p:spPr>
          <a:xfrm>
            <a:off x="2252546" y="2161272"/>
            <a:ext cx="7655999" cy="3786541"/>
          </a:xfrm>
          <a:prstGeom prst="rect">
            <a:avLst/>
          </a:prstGeom>
        </p:spPr>
      </p:pic>
      <p:sp>
        <p:nvSpPr>
          <p:cNvPr id="5" name="Title 1">
            <a:extLst>
              <a:ext uri="{FF2B5EF4-FFF2-40B4-BE49-F238E27FC236}">
                <a16:creationId xmlns:a16="http://schemas.microsoft.com/office/drawing/2014/main" id="{3E96C450-4E7F-46C9-9009-99CAE42331B9}"/>
              </a:ext>
            </a:extLst>
          </p:cNvPr>
          <p:cNvSpPr txBox="1">
            <a:spLocks/>
          </p:cNvSpPr>
          <p:nvPr/>
        </p:nvSpPr>
        <p:spPr>
          <a:xfrm>
            <a:off x="838200" y="910186"/>
            <a:ext cx="10515600" cy="620688"/>
          </a:xfrm>
          <a:prstGeom prst="rect">
            <a:avLst/>
          </a:prstGeom>
          <a:solidFill>
            <a:srgbClr val="00B0F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nSpc>
                <a:spcPct val="100000"/>
              </a:lnSpc>
              <a:spcBef>
                <a:spcPct val="0"/>
              </a:spcBef>
              <a:buNone/>
            </a:pPr>
            <a:br>
              <a:rPr lang="en-US" sz="4000" b="1" dirty="0">
                <a:latin typeface="Times New Roman" panose="02020603050405020304" pitchFamily="18" charset="0"/>
                <a:ea typeface="+mj-ea"/>
                <a:cs typeface="Times New Roman" panose="02020603050405020304" pitchFamily="18" charset="0"/>
              </a:rPr>
            </a:br>
            <a:br>
              <a:rPr lang="en-US" sz="4000" b="1" dirty="0">
                <a:latin typeface="Times New Roman" panose="02020603050405020304" pitchFamily="18" charset="0"/>
                <a:ea typeface="+mj-ea"/>
                <a:cs typeface="Times New Roman" panose="02020603050405020304" pitchFamily="18" charset="0"/>
              </a:rPr>
            </a:br>
            <a:r>
              <a:rPr lang="en-US" sz="4000" b="1" dirty="0">
                <a:latin typeface="Times New Roman" panose="02020603050405020304" pitchFamily="18" charset="0"/>
                <a:ea typeface="+mj-ea"/>
                <a:cs typeface="Times New Roman" panose="02020603050405020304" pitchFamily="18" charset="0"/>
              </a:rPr>
              <a:t>Dataset Analysis</a:t>
            </a:r>
            <a:br>
              <a:rPr lang="en-US" sz="4000" b="1" dirty="0">
                <a:latin typeface="Times New Roman" panose="02020603050405020304" pitchFamily="18" charset="0"/>
                <a:ea typeface="+mj-ea"/>
                <a:cs typeface="Times New Roman" panose="02020603050405020304" pitchFamily="18" charset="0"/>
              </a:rPr>
            </a:br>
            <a:r>
              <a:rPr lang="en-US" sz="4000" b="1" dirty="0">
                <a:latin typeface="Times New Roman" panose="02020603050405020304" pitchFamily="18" charset="0"/>
                <a:ea typeface="+mj-ea"/>
                <a:cs typeface="Times New Roman" panose="02020603050405020304" pitchFamily="18" charset="0"/>
              </a:rPr>
              <a:t> </a:t>
            </a:r>
            <a:br>
              <a:rPr lang="en-US" sz="4000" b="1" dirty="0">
                <a:latin typeface="Times New Roman" panose="02020603050405020304" pitchFamily="18" charset="0"/>
                <a:ea typeface="+mj-ea"/>
                <a:cs typeface="Times New Roman" panose="02020603050405020304" pitchFamily="18" charset="0"/>
              </a:rPr>
            </a:br>
            <a:endParaRPr lang="en-US" sz="4000" b="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752982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91637C9-4B23-4E4D-87D9-04A9954C6AC5}"/>
              </a:ext>
            </a:extLst>
          </p:cNvPr>
          <p:cNvPicPr>
            <a:picLocks noGrp="1"/>
          </p:cNvPicPr>
          <p:nvPr>
            <p:ph idx="1"/>
          </p:nvPr>
        </p:nvPicPr>
        <p:blipFill rotWithShape="1">
          <a:blip r:embed="rId2" cstate="print"/>
          <a:srcRect t="13826"/>
          <a:stretch/>
        </p:blipFill>
        <p:spPr bwMode="auto">
          <a:xfrm>
            <a:off x="2481944" y="1973942"/>
            <a:ext cx="7082970" cy="3701143"/>
          </a:xfrm>
          <a:prstGeom prst="rect">
            <a:avLst/>
          </a:prstGeom>
          <a:noFill/>
          <a:ln w="9525">
            <a:noFill/>
            <a:miter lim="800000"/>
            <a:headEnd/>
            <a:tailEnd/>
          </a:ln>
        </p:spPr>
      </p:pic>
      <p:sp>
        <p:nvSpPr>
          <p:cNvPr id="7" name="Title 1">
            <a:extLst>
              <a:ext uri="{FF2B5EF4-FFF2-40B4-BE49-F238E27FC236}">
                <a16:creationId xmlns:a16="http://schemas.microsoft.com/office/drawing/2014/main" id="{29F413E5-4553-476A-B7C6-CB042A62DC2A}"/>
              </a:ext>
            </a:extLst>
          </p:cNvPr>
          <p:cNvSpPr txBox="1">
            <a:spLocks/>
          </p:cNvSpPr>
          <p:nvPr/>
        </p:nvSpPr>
        <p:spPr>
          <a:xfrm>
            <a:off x="838199" y="760385"/>
            <a:ext cx="10515600" cy="620688"/>
          </a:xfrm>
          <a:prstGeom prst="rect">
            <a:avLst/>
          </a:prstGeom>
          <a:solidFill>
            <a:srgbClr val="00B0F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just">
              <a:lnSpc>
                <a:spcPct val="100000"/>
              </a:lnSpc>
              <a:spcBef>
                <a:spcPct val="0"/>
              </a:spcBef>
              <a:buNone/>
            </a:pPr>
            <a:r>
              <a:rPr lang="en-US" sz="4000" b="1" dirty="0">
                <a:latin typeface="Times New Roman" panose="02020603050405020304" pitchFamily="18" charset="0"/>
                <a:ea typeface="+mj-ea"/>
                <a:cs typeface="Times New Roman" panose="02020603050405020304" pitchFamily="18" charset="0"/>
              </a:rPr>
              <a:t>Performance Evaluation under Limited Data</a:t>
            </a:r>
          </a:p>
        </p:txBody>
      </p:sp>
    </p:spTree>
    <p:extLst>
      <p:ext uri="{BB962C8B-B14F-4D97-AF65-F5344CB8AC3E}">
        <p14:creationId xmlns:p14="http://schemas.microsoft.com/office/powerpoint/2010/main" val="1703541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D5AB6D-13C4-4699-B615-249698624A80}"/>
              </a:ext>
            </a:extLst>
          </p:cNvPr>
          <p:cNvPicPr>
            <a:picLocks noGrp="1" noChangeAspect="1"/>
          </p:cNvPicPr>
          <p:nvPr>
            <p:ph idx="1"/>
          </p:nvPr>
        </p:nvPicPr>
        <p:blipFill>
          <a:blip r:embed="rId2"/>
          <a:stretch>
            <a:fillRect/>
          </a:stretch>
        </p:blipFill>
        <p:spPr>
          <a:xfrm>
            <a:off x="2149597" y="1886857"/>
            <a:ext cx="7585984" cy="3820379"/>
          </a:xfrm>
          <a:prstGeom prst="rect">
            <a:avLst/>
          </a:prstGeom>
        </p:spPr>
      </p:pic>
      <p:sp>
        <p:nvSpPr>
          <p:cNvPr id="6" name="Title 1">
            <a:extLst>
              <a:ext uri="{FF2B5EF4-FFF2-40B4-BE49-F238E27FC236}">
                <a16:creationId xmlns:a16="http://schemas.microsoft.com/office/drawing/2014/main" id="{2F698DDB-9125-431C-B9BF-E7D8B1533411}"/>
              </a:ext>
            </a:extLst>
          </p:cNvPr>
          <p:cNvSpPr txBox="1">
            <a:spLocks/>
          </p:cNvSpPr>
          <p:nvPr/>
        </p:nvSpPr>
        <p:spPr>
          <a:xfrm>
            <a:off x="592874" y="644364"/>
            <a:ext cx="10515600" cy="620688"/>
          </a:xfrm>
          <a:prstGeom prst="rect">
            <a:avLst/>
          </a:prstGeom>
          <a:solidFill>
            <a:srgbClr val="00B0F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Feature selection</a:t>
            </a:r>
            <a:br>
              <a:rPr lang="en-US" sz="4000" b="1" dirty="0">
                <a:latin typeface="Times New Roman" panose="02020603050405020304" pitchFamily="18" charset="0"/>
                <a:cs typeface="Times New Roman" panose="02020603050405020304" pitchFamily="18" charset="0"/>
              </a:rPr>
            </a:br>
            <a:endParaRPr lang="en-IN" sz="4000"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4183089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A145A2E-FBCF-A841-2ABD-7669FEF3567D}"/>
              </a:ext>
            </a:extLst>
          </p:cNvPr>
          <p:cNvSpPr>
            <a:spLocks noGrp="1" noChangeArrowheads="1"/>
          </p:cNvSpPr>
          <p:nvPr>
            <p:ph idx="1"/>
          </p:nvPr>
        </p:nvSpPr>
        <p:spPr bwMode="auto">
          <a:xfrm>
            <a:off x="1210614" y="1690688"/>
            <a:ext cx="9942490" cy="337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Breiman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 (2001).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modeling: The two cultures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Statistical Science, 16(3), 199–231.</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Ribeiro, M. T., Singh, S., &amp;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Guestrin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 (2016).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should I trust you?” Explaining the predictions of any classifier.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Proceedings of the 22nd ACM SIGKDD International Conference on Knowledge Discovery and Data Mining.</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Guyon, I., &amp;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Elisseeff</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(2003).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introduction to variable and feature selection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Journal of Machine Learning Research, 3, 1157–1182.</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Domingos, P. (2012).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few useful things to know about machine learning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Communications of the ACM, 55(10), 78–87.</a:t>
            </a:r>
          </a:p>
        </p:txBody>
      </p:sp>
      <p:sp>
        <p:nvSpPr>
          <p:cNvPr id="4" name="Title 1">
            <a:extLst>
              <a:ext uri="{FF2B5EF4-FFF2-40B4-BE49-F238E27FC236}">
                <a16:creationId xmlns:a16="http://schemas.microsoft.com/office/drawing/2014/main" id="{5B2A912A-C256-4C16-B534-B5DC769FDA52}"/>
              </a:ext>
            </a:extLst>
          </p:cNvPr>
          <p:cNvSpPr txBox="1">
            <a:spLocks/>
          </p:cNvSpPr>
          <p:nvPr/>
        </p:nvSpPr>
        <p:spPr>
          <a:xfrm>
            <a:off x="838200" y="796887"/>
            <a:ext cx="10515600" cy="620688"/>
          </a:xfrm>
          <a:prstGeom prst="rect">
            <a:avLst/>
          </a:prstGeom>
          <a:solidFill>
            <a:srgbClr val="00B0F0"/>
          </a:solidFill>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400" b="1" dirty="0">
                <a:latin typeface="Times New Roman" panose="02020603050405020304" pitchFamily="18" charset="0"/>
                <a:cs typeface="Times New Roman" panose="02020603050405020304" pitchFamily="18" charset="0"/>
              </a:rPr>
              <a:t>REFERENCES</a:t>
            </a:r>
            <a:endParaRPr lang="en-IN" b="1" dirty="0">
              <a:latin typeface="Garamond" panose="02020404030301010803" pitchFamily="18" charset="0"/>
              <a:cs typeface="Times New Roman" panose="02020603050405020304" pitchFamily="18" charset="0"/>
            </a:endParaRPr>
          </a:p>
        </p:txBody>
      </p:sp>
    </p:spTree>
    <p:extLst>
      <p:ext uri="{BB962C8B-B14F-4D97-AF65-F5344CB8AC3E}">
        <p14:creationId xmlns:p14="http://schemas.microsoft.com/office/powerpoint/2010/main" val="1079661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754</TotalTime>
  <Words>2580</Words>
  <Application>Microsoft Office PowerPoint</Application>
  <PresentationFormat>Widescreen</PresentationFormat>
  <Paragraphs>309</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Garamond</vt:lpstr>
      <vt:lpstr>Symbol</vt:lpstr>
      <vt:lpstr>Times New Roman</vt:lpstr>
      <vt:lpstr>Wingdings</vt:lpstr>
      <vt:lpstr>Office Theme</vt:lpstr>
      <vt:lpstr>Stability Of Machine Learning Predictive Features Under Limited Data</vt:lpstr>
      <vt:lpstr>Aim and Objective</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Stability of Machine Learning Predictive Features Under Limited Data</dc:title>
  <dc:creator>GAIN</dc:creator>
  <cp:lastModifiedBy>Prasanna Prasanna</cp:lastModifiedBy>
  <cp:revision>60</cp:revision>
  <dcterms:created xsi:type="dcterms:W3CDTF">2025-12-29T08:29:11Z</dcterms:created>
  <dcterms:modified xsi:type="dcterms:W3CDTF">2026-02-23T04:07:15Z</dcterms:modified>
</cp:coreProperties>
</file>